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17.png" ContentType="image/png"/>
  <Override PartName="/ppt/media/image16.png" ContentType="image/png"/>
  <Override PartName="/ppt/media/image15.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800" spc="-1" strike="noStrike">
                <a:solidFill>
                  <a:srgbClr val="000000"/>
                </a:solidFill>
                <a:latin typeface="Calibri"/>
              </a:rPr>
              <a:t>Click to move the slide</a:t>
            </a:r>
            <a:endParaRPr b="0" lang="en-IN"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Click to edit the notes </a:t>
            </a:r>
            <a:r>
              <a:rPr b="0" lang="en-IN" sz="2000" spc="-1" strike="noStrike">
                <a:latin typeface="Arial"/>
              </a:rPr>
              <a:t>format</a:t>
            </a:r>
            <a:endParaRPr b="0" lang="en-IN"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B7716E4C-3DB0-49EB-8552-F556576DF185}"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Welcome. AeroLedger is a full-stack platform that automates the entire vendor contract lifecycle — from AI-powered contract reading to real-time SLA tracking, breach detection, penalty calculation, and renewal decisions. Today I'll walk you through the problem, the solution, and the business value.</a:t>
            </a:r>
            <a:endParaRPr b="0" lang="en-IN" sz="2000" spc="-1" strike="noStrike">
              <a:latin typeface="Arial"/>
            </a:endParaRPr>
          </a:p>
        </p:txBody>
      </p:sp>
      <p:sp>
        <p:nvSpPr>
          <p:cNvPr id="280"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26DE37B-4E69-4D2B-A9A2-873FDE0D5868}"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Airports outsource ground handling to dozens of vendors. Each has a contract with SLA terms. The reality: contracts are PDFs nobody reads. Breaches happen constantly but go undetected. Penalty clauses exist but are never enforced. Contracts auto-renew with poor performers because there's no data. Airport loses real money every month.</a:t>
            </a:r>
            <a:endParaRPr b="0" lang="en-IN" sz="2000" spc="-1" strike="noStrike">
              <a:latin typeface="Arial"/>
            </a:endParaRPr>
          </a:p>
        </p:txBody>
      </p:sp>
      <p:sp>
        <p:nvSpPr>
          <p:cNvPr id="283"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D2F3652-C25B-43D6-8594-B31295A00775}"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Here's the core problem made real. A baggage handling contract says deliver bags within 30 minutes, $150 per breach. Reality: 43 breaches this month. That's $6,450 in uncollected penalties. Nobody noticed. The contract auto-renewed. AeroLedger automatically catches this and generates an invoice.</a:t>
            </a:r>
            <a:endParaRPr b="0" lang="en-IN" sz="2000" spc="-1" strike="noStrike">
              <a:latin typeface="Arial"/>
            </a:endParaRPr>
          </a:p>
        </p:txBody>
      </p:sp>
      <p:sp>
        <p:nvSpPr>
          <p:cNvPr id="286"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7D78D11-C08A-4FC6-857E-8C78BA1E713A}"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Three user types. The Contracts Manager at the airport uploads contracts, monitors SLA performance, and generates penalty reports. Vendors can log in to see their own scores and dispute breaches. Admins have a god-view across all airports and all vendors.</a:t>
            </a:r>
            <a:endParaRPr b="0" lang="en-IN" sz="2000" spc="-1" strike="noStrike">
              <a:latin typeface="Arial"/>
            </a:endParaRPr>
          </a:p>
        </p:txBody>
      </p:sp>
      <p:sp>
        <p:nvSpPr>
          <p:cNvPr id="289"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1E8A9BB-1525-4FFD-9792-1EF9B992418D}"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Five phases. Phase 1: Manager uploads a PDF contract. AI reads it and extracts SLA terms, penalty clauses, dates — no manual entry. Phase 2: Daily performance data is compared against the SLA. Phase 3: Breaches are auto-detected and logged with full evidence. Phase 4: Penalty is calculated from the contract clause and an invoice PDF is generated. Phase 5: 90 days before expiry, system recommends Renew, Renegotiate, or Replace based on 12-month scores.</a:t>
            </a:r>
            <a:endParaRPr b="0" lang="en-IN" sz="2000" spc="-1" strike="noStrike">
              <a:latin typeface="Arial"/>
            </a:endParaRPr>
          </a:p>
        </p:txBody>
      </p:sp>
      <p:sp>
        <p:nvSpPr>
          <p:cNvPr id="292"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56DA6D3-5AE3-4A1C-98A2-F9D583BA418E}"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AI uses RAG — Retrieval Augmented Generation — to read contract PDFs and extract structured data. Legal language varies wildly: one contract says '30 minutes', another says 'half hour', another says '1800 seconds'. Normal code breaks on this variation. RAG understands meaning, not just text, and always outputs the same clean JSON that drives breach detection and penalty calculation.</a:t>
            </a:r>
            <a:endParaRPr b="0" lang="en-IN" sz="2000" spc="-1" strike="noStrike">
              <a:latin typeface="Arial"/>
            </a:endParaRPr>
          </a:p>
        </p:txBody>
      </p:sp>
      <p:sp>
        <p:nvSpPr>
          <p:cNvPr id="295"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75C8606-4E15-447D-9F0D-E61E2F60E1F2}"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6040" cy="3085920"/>
          </a:xfrm>
          <a:prstGeom prst="rect">
            <a:avLst/>
          </a:prstGeom>
          <a:ln w="0">
            <a:noFill/>
          </a:ln>
        </p:spPr>
      </p:sp>
      <p:sp>
        <p:nvSpPr>
          <p:cNvPr id="29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AeroLedger has 8 modules: Contract Vault for storing and reading contracts with AI, SLA Dashboard for live monitoring, Breach Logger for automated violation tracking, Penalty Engine for calculating and invoicing fines, Renewal Tracker for expiry management, and Analytics Dashboard for long-term trends. Also Vendor Scorecard for monthly PDF reports and Escalation Manager for automatic alerts when breach thresholds are hit.</a:t>
            </a:r>
            <a:endParaRPr b="0" lang="en-IN" sz="2000" spc="-1" strike="noStrike">
              <a:latin typeface="Arial"/>
            </a:endParaRPr>
          </a:p>
        </p:txBody>
      </p:sp>
      <p:sp>
        <p:nvSpPr>
          <p:cNvPr id="298"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B1108C4-6CCB-4189-B1E5-E135A0064737}"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6040" cy="3085920"/>
          </a:xfrm>
          <a:prstGeom prst="rect">
            <a:avLst/>
          </a:prstGeom>
          <a:ln w="0">
            <a:noFill/>
          </a:ln>
        </p:spPr>
      </p:sp>
      <p:sp>
        <p:nvSpPr>
          <p:cNvPr id="30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React frontend for dashboards and real-time visualization. FastAPI backend in Python — async, perfect for RAG pipelines. PostgreSQL for relational data — vendors, contracts, breaches all linked. LangChain with FAISS and Groq for the AI contract reading. pdfplumber to extract contract text, ReportLab to generate penalty invoices. JWT with role-based access control.</a:t>
            </a:r>
            <a:endParaRPr b="0" lang="en-IN" sz="2000" spc="-1" strike="noStrike">
              <a:latin typeface="Arial"/>
            </a:endParaRPr>
          </a:p>
        </p:txBody>
      </p:sp>
      <p:sp>
        <p:nvSpPr>
          <p:cNvPr id="301"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B7DAFCD-2030-411F-8A47-69379EA86F78}"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6040" cy="3085920"/>
          </a:xfrm>
          <a:prstGeom prst="rect">
            <a:avLst/>
          </a:prstGeom>
          <a:ln w="0">
            <a:noFill/>
          </a:ln>
        </p:spPr>
      </p:sp>
      <p:sp>
        <p:nvSpPr>
          <p:cNvPr id="30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AeroLedger has the strongest business case. AirAlign solves compliance — important but hard to monetize. FlightOps Predictor solves delays — operational value. AeroLedger recovers direct revenue. When you say 'this recovered $24,500 in unpaid penalties last month' — the Finance Director and CEO immediately understand. No explanation needed. The outcome is dollars.</a:t>
            </a:r>
            <a:endParaRPr b="0" lang="en-IN" sz="2000" spc="-1" strike="noStrike">
              <a:latin typeface="Arial"/>
            </a:endParaRPr>
          </a:p>
        </p:txBody>
      </p:sp>
      <p:sp>
        <p:nvSpPr>
          <p:cNvPr id="304"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A44BF2A-B0E4-4495-BDDE-9047E8952A92}"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6040" cy="3085920"/>
          </a:xfrm>
          <a:prstGeom prst="rect">
            <a:avLst/>
          </a:prstGeom>
          <a:ln w="0">
            <a:noFill/>
          </a:ln>
        </p:spPr>
      </p:sp>
      <p:sp>
        <p:nvSpPr>
          <p:cNvPr id="30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To close: AeroLedger is a full-stack Aviation Vendor Contract and SLA Intelligence Platform. It covers four pillars: AI Contract Reading, Automated Breach Detection, Penalty Calculation, and Renewal Intelligence. The business value is direct — it recovers real money that airports are currently losing every month without knowing it. This is the system that bridges operations and finance in every airport that outsources ground handling.</a:t>
            </a:r>
            <a:endParaRPr b="0" lang="en-IN" sz="2000" spc="-1" strike="noStrike">
              <a:latin typeface="Arial"/>
            </a:endParaRPr>
          </a:p>
        </p:txBody>
      </p:sp>
      <p:sp>
        <p:nvSpPr>
          <p:cNvPr id="307"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A2C5E9F-7366-4286-8F18-1562DEBFAB58}"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IN" sz="1800" spc="-1" strike="noStrike">
                <a:solidFill>
                  <a:srgbClr val="000000"/>
                </a:solidFill>
                <a:latin typeface="Calibri"/>
              </a:rPr>
              <a:t>Click to edit the title text </a:t>
            </a:r>
            <a:r>
              <a:rPr b="0" lang="en-IN" sz="1800" spc="-1" strike="noStrike">
                <a:solidFill>
                  <a:srgbClr val="000000"/>
                </a:solidFill>
                <a:latin typeface="Calibri"/>
              </a:rPr>
              <a:t>format</a:t>
            </a:r>
            <a:endParaRPr b="0" lang="en-IN"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slideLayout" Target="../slideLayouts/slideLayout1.xml"/><Relationship Id="rId8"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1.xml"/><Relationship Id="rId6"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2b2e"/>
        </a:solidFill>
      </p:bgPr>
    </p:bg>
    <p:spTree>
      <p:nvGrpSpPr>
        <p:cNvPr id="1" name=""/>
        <p:cNvGrpSpPr/>
        <p:nvPr/>
      </p:nvGrpSpPr>
      <p:grpSpPr>
        <a:xfrm>
          <a:off x="0" y="0"/>
          <a:ext cx="0" cy="0"/>
          <a:chOff x="0" y="0"/>
          <a:chExt cx="0" cy="0"/>
        </a:xfrm>
      </p:grpSpPr>
      <p:sp>
        <p:nvSpPr>
          <p:cNvPr id="44" name="Shape 3"/>
          <p:cNvSpPr/>
          <p:nvPr/>
        </p:nvSpPr>
        <p:spPr>
          <a:xfrm>
            <a:off x="548640" y="914400"/>
            <a:ext cx="2559960" cy="319680"/>
          </a:xfrm>
          <a:prstGeom prst="roundRect">
            <a:avLst>
              <a:gd name="adj" fmla="val 14286"/>
            </a:avLst>
          </a:prstGeom>
          <a:solidFill>
            <a:srgbClr val="02c39a"/>
          </a:solidFill>
          <a:ln w="12700">
            <a:solidFill>
              <a:srgbClr val="02c39a"/>
            </a:solidFill>
            <a:round/>
          </a:ln>
        </p:spPr>
        <p:style>
          <a:lnRef idx="0"/>
          <a:fillRef idx="0"/>
          <a:effectRef idx="0"/>
          <a:fontRef idx="minor"/>
        </p:style>
      </p:sp>
      <p:sp>
        <p:nvSpPr>
          <p:cNvPr id="45" name="Text 4"/>
          <p:cNvSpPr/>
          <p:nvPr/>
        </p:nvSpPr>
        <p:spPr>
          <a:xfrm>
            <a:off x="548640" y="914400"/>
            <a:ext cx="2559960" cy="319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700" spc="-1" strike="noStrike">
                <a:solidFill>
                  <a:srgbClr val="0d2b2e"/>
                </a:solidFill>
                <a:latin typeface="Calibri"/>
              </a:rPr>
              <a:t>AVIATION TECH · CONTRACT INTELLIGENCE</a:t>
            </a:r>
            <a:endParaRPr b="0" lang="en-IN" sz="700" spc="-1" strike="noStrike">
              <a:latin typeface="Arial"/>
            </a:endParaRPr>
          </a:p>
        </p:txBody>
      </p:sp>
      <p:sp>
        <p:nvSpPr>
          <p:cNvPr id="46" name="Text 5"/>
          <p:cNvSpPr/>
          <p:nvPr/>
        </p:nvSpPr>
        <p:spPr>
          <a:xfrm>
            <a:off x="548640" y="1417320"/>
            <a:ext cx="6857640" cy="11883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6600" spc="-1" strike="noStrike">
                <a:solidFill>
                  <a:srgbClr val="ffffff"/>
                </a:solidFill>
                <a:latin typeface="Cambria"/>
                <a:ea typeface="Cambria"/>
              </a:rPr>
              <a:t>AeroLedger</a:t>
            </a:r>
            <a:endParaRPr b="0" lang="en-IN" sz="6600" spc="-1" strike="noStrike">
              <a:latin typeface="Arial"/>
            </a:endParaRPr>
          </a:p>
        </p:txBody>
      </p:sp>
      <p:sp>
        <p:nvSpPr>
          <p:cNvPr id="47" name="Text 6"/>
          <p:cNvSpPr/>
          <p:nvPr/>
        </p:nvSpPr>
        <p:spPr>
          <a:xfrm>
            <a:off x="548640" y="2606040"/>
            <a:ext cx="6400440" cy="914040"/>
          </a:xfrm>
          <a:prstGeom prst="rect">
            <a:avLst/>
          </a:prstGeom>
          <a:noFill/>
          <a:ln w="0">
            <a:noFill/>
          </a:ln>
        </p:spPr>
        <p:style>
          <a:lnRef idx="0"/>
          <a:fillRef idx="0"/>
          <a:effectRef idx="0"/>
          <a:fontRef idx="minor"/>
        </p:style>
        <p:txBody>
          <a:bodyPr lIns="0" rIns="0" tIns="0" bIns="0" anchor="ctr">
            <a:noAutofit/>
          </a:bodyPr>
          <a:p>
            <a:pPr>
              <a:lnSpc>
                <a:spcPct val="120000"/>
              </a:lnSpc>
              <a:buNone/>
              <a:tabLst>
                <a:tab algn="l" pos="0"/>
              </a:tabLst>
            </a:pPr>
            <a:r>
              <a:rPr b="0" lang="en-US" sz="2000" spc="-1" strike="noStrike">
                <a:solidFill>
                  <a:srgbClr val="02c39a"/>
                </a:solidFill>
                <a:latin typeface="Calibri"/>
                <a:ea typeface="Calibri"/>
              </a:rPr>
              <a:t>Aviation Vendor Contract &amp; SLA</a:t>
            </a:r>
            <a:endParaRPr b="0" lang="en-IN" sz="2000" spc="-1" strike="noStrike">
              <a:latin typeface="Arial"/>
            </a:endParaRPr>
          </a:p>
          <a:p>
            <a:pPr>
              <a:lnSpc>
                <a:spcPct val="120000"/>
              </a:lnSpc>
              <a:buNone/>
              <a:tabLst>
                <a:tab algn="l" pos="0"/>
              </a:tabLst>
            </a:pPr>
            <a:r>
              <a:rPr b="0" lang="en-US" sz="2000" spc="-1" strike="noStrike">
                <a:solidFill>
                  <a:srgbClr val="02c39a"/>
                </a:solidFill>
                <a:latin typeface="Calibri"/>
                <a:ea typeface="Calibri"/>
              </a:rPr>
              <a:t>Management System</a:t>
            </a:r>
            <a:endParaRPr b="0" lang="en-IN" sz="2000" spc="-1" strike="noStrike">
              <a:latin typeface="Arial"/>
            </a:endParaRPr>
          </a:p>
        </p:txBody>
      </p:sp>
      <p:sp>
        <p:nvSpPr>
          <p:cNvPr id="48" name="Text 7"/>
          <p:cNvSpPr/>
          <p:nvPr/>
        </p:nvSpPr>
        <p:spPr>
          <a:xfrm>
            <a:off x="548640" y="4206240"/>
            <a:ext cx="68576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300" spc="-1" strike="noStrike">
                <a:solidFill>
                  <a:srgbClr val="64748b"/>
                </a:solidFill>
                <a:latin typeface="Calibri"/>
                <a:ea typeface="Calibri"/>
              </a:rPr>
              <a:t>From contract upload to penalty invoice — fully automated.</a:t>
            </a:r>
            <a:endParaRPr b="0" lang="en-IN" sz="13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afa"/>
        </a:solidFill>
      </p:bgPr>
    </p:bg>
    <p:spTree>
      <p:nvGrpSpPr>
        <p:cNvPr id="1" name=""/>
        <p:cNvGrpSpPr/>
        <p:nvPr/>
      </p:nvGrpSpPr>
      <p:grpSpPr>
        <a:xfrm>
          <a:off x="0" y="0"/>
          <a:ext cx="0" cy="0"/>
          <a:chOff x="0" y="0"/>
          <a:chExt cx="0" cy="0"/>
        </a:xfrm>
      </p:grpSpPr>
      <p:sp>
        <p:nvSpPr>
          <p:cNvPr id="49" name="Shape 0"/>
          <p:cNvSpPr/>
          <p:nvPr/>
        </p:nvSpPr>
        <p:spPr>
          <a:xfrm>
            <a:off x="0" y="0"/>
            <a:ext cx="9143640" cy="1080000"/>
          </a:xfrm>
          <a:prstGeom prst="rect">
            <a:avLst/>
          </a:prstGeom>
          <a:solidFill>
            <a:srgbClr val="028090"/>
          </a:solidFill>
          <a:ln w="12700">
            <a:solidFill>
              <a:srgbClr val="028090"/>
            </a:solidFill>
            <a:round/>
          </a:ln>
        </p:spPr>
        <p:style>
          <a:lnRef idx="0"/>
          <a:fillRef idx="0"/>
          <a:effectRef idx="0"/>
          <a:fontRef idx="minor"/>
        </p:style>
      </p:sp>
      <p:sp>
        <p:nvSpPr>
          <p:cNvPr id="50" name="Text 1"/>
          <p:cNvSpPr/>
          <p:nvPr/>
        </p:nvSpPr>
        <p:spPr>
          <a:xfrm>
            <a:off x="457200" y="0"/>
            <a:ext cx="822924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497" strike="noStrike">
                <a:solidFill>
                  <a:srgbClr val="02c39a"/>
                </a:solidFill>
                <a:latin typeface="Calibri"/>
                <a:ea typeface="Calibri"/>
              </a:rPr>
              <a:t>THE PROBLEM</a:t>
            </a:r>
            <a:endParaRPr b="0" lang="en-IN" sz="1100" spc="-1" strike="noStrike">
              <a:latin typeface="Arial"/>
            </a:endParaRPr>
          </a:p>
        </p:txBody>
      </p:sp>
      <p:sp>
        <p:nvSpPr>
          <p:cNvPr id="51" name="Text 2"/>
          <p:cNvSpPr/>
          <p:nvPr/>
        </p:nvSpPr>
        <p:spPr>
          <a:xfrm>
            <a:off x="241200" y="288000"/>
            <a:ext cx="8229240" cy="10054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600" spc="-1" strike="noStrike">
                <a:solidFill>
                  <a:srgbClr val="ffffff"/>
                </a:solidFill>
                <a:latin typeface="Cambria"/>
                <a:ea typeface="Cambria"/>
              </a:rPr>
              <a:t>Airports Are Losing Money Every Month</a:t>
            </a:r>
            <a:endParaRPr b="0" lang="en-IN" sz="2600" spc="-1" strike="noStrike">
              <a:latin typeface="Arial"/>
            </a:endParaRPr>
          </a:p>
        </p:txBody>
      </p:sp>
      <p:sp>
        <p:nvSpPr>
          <p:cNvPr id="52" name="Shape 3"/>
          <p:cNvSpPr/>
          <p:nvPr/>
        </p:nvSpPr>
        <p:spPr>
          <a:xfrm>
            <a:off x="365760" y="1234440"/>
            <a:ext cx="4205880" cy="1508400"/>
          </a:xfrm>
          <a:prstGeom prst="roundRect">
            <a:avLst>
              <a:gd name="adj" fmla="val 4848"/>
            </a:avLst>
          </a:prstGeom>
          <a:solidFill>
            <a:srgbClr val="ffffff"/>
          </a:solidFill>
          <a:ln w="1905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53" name="Image 0" descr="preencoded.png"/>
          <p:cNvPicPr/>
          <p:nvPr/>
        </p:nvPicPr>
        <p:blipFill>
          <a:blip r:embed="rId1"/>
          <a:stretch/>
        </p:blipFill>
        <p:spPr>
          <a:xfrm>
            <a:off x="567000" y="1737360"/>
            <a:ext cx="411120" cy="411120"/>
          </a:xfrm>
          <a:prstGeom prst="rect">
            <a:avLst/>
          </a:prstGeom>
          <a:ln w="0">
            <a:noFill/>
          </a:ln>
        </p:spPr>
      </p:pic>
      <p:sp>
        <p:nvSpPr>
          <p:cNvPr id="54" name="Text 4"/>
          <p:cNvSpPr/>
          <p:nvPr/>
        </p:nvSpPr>
        <p:spPr>
          <a:xfrm>
            <a:off x="1115640" y="1398960"/>
            <a:ext cx="329148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1a3a3a"/>
                </a:solidFill>
                <a:latin typeface="Cambria"/>
                <a:ea typeface="Cambria"/>
              </a:rPr>
              <a:t>Contracts Buried</a:t>
            </a:r>
            <a:endParaRPr b="0" lang="en-IN" sz="1400" spc="-1" strike="noStrike">
              <a:latin typeface="Arial"/>
            </a:endParaRPr>
          </a:p>
        </p:txBody>
      </p:sp>
      <p:sp>
        <p:nvSpPr>
          <p:cNvPr id="55" name="Text 5"/>
          <p:cNvSpPr/>
          <p:nvPr/>
        </p:nvSpPr>
        <p:spPr>
          <a:xfrm>
            <a:off x="1115640" y="1764720"/>
            <a:ext cx="3291480" cy="776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64748b"/>
                </a:solidFill>
                <a:latin typeface="Calibri"/>
                <a:ea typeface="Calibri"/>
              </a:rPr>
              <a:t>PDF files sit in legal folders. Nobody reads SLA terms regularly.</a:t>
            </a:r>
            <a:endParaRPr b="0" lang="en-IN" sz="1150" spc="-1" strike="noStrike">
              <a:latin typeface="Arial"/>
            </a:endParaRPr>
          </a:p>
        </p:txBody>
      </p:sp>
      <p:sp>
        <p:nvSpPr>
          <p:cNvPr id="56" name="Shape 6"/>
          <p:cNvSpPr/>
          <p:nvPr/>
        </p:nvSpPr>
        <p:spPr>
          <a:xfrm>
            <a:off x="4754880" y="1234440"/>
            <a:ext cx="4205880" cy="1508400"/>
          </a:xfrm>
          <a:prstGeom prst="roundRect">
            <a:avLst>
              <a:gd name="adj" fmla="val 4848"/>
            </a:avLst>
          </a:prstGeom>
          <a:solidFill>
            <a:srgbClr val="ffffff"/>
          </a:solidFill>
          <a:ln w="1905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57" name="Image 1" descr="preencoded.png"/>
          <p:cNvPicPr/>
          <p:nvPr/>
        </p:nvPicPr>
        <p:blipFill>
          <a:blip r:embed="rId2"/>
          <a:stretch/>
        </p:blipFill>
        <p:spPr>
          <a:xfrm>
            <a:off x="4956120" y="1737360"/>
            <a:ext cx="411120" cy="411120"/>
          </a:xfrm>
          <a:prstGeom prst="rect">
            <a:avLst/>
          </a:prstGeom>
          <a:ln w="0">
            <a:noFill/>
          </a:ln>
        </p:spPr>
      </p:pic>
      <p:sp>
        <p:nvSpPr>
          <p:cNvPr id="58" name="Text 7"/>
          <p:cNvSpPr/>
          <p:nvPr/>
        </p:nvSpPr>
        <p:spPr>
          <a:xfrm>
            <a:off x="5504760" y="1398960"/>
            <a:ext cx="329148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1a3a3a"/>
                </a:solidFill>
                <a:latin typeface="Cambria"/>
                <a:ea typeface="Cambria"/>
              </a:rPr>
              <a:t>Breaches Undetected</a:t>
            </a:r>
            <a:endParaRPr b="0" lang="en-IN" sz="1400" spc="-1" strike="noStrike">
              <a:latin typeface="Arial"/>
            </a:endParaRPr>
          </a:p>
        </p:txBody>
      </p:sp>
      <p:sp>
        <p:nvSpPr>
          <p:cNvPr id="59" name="Text 8"/>
          <p:cNvSpPr/>
          <p:nvPr/>
        </p:nvSpPr>
        <p:spPr>
          <a:xfrm>
            <a:off x="5504760" y="1764720"/>
            <a:ext cx="3291480" cy="776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64748b"/>
                </a:solidFill>
                <a:latin typeface="Calibri"/>
                <a:ea typeface="Calibri"/>
              </a:rPr>
              <a:t>SLA violations happen daily but go unnoticed for weeks or months.</a:t>
            </a:r>
            <a:endParaRPr b="0" lang="en-IN" sz="1150" spc="-1" strike="noStrike">
              <a:latin typeface="Arial"/>
            </a:endParaRPr>
          </a:p>
        </p:txBody>
      </p:sp>
      <p:sp>
        <p:nvSpPr>
          <p:cNvPr id="60" name="Shape 9"/>
          <p:cNvSpPr/>
          <p:nvPr/>
        </p:nvSpPr>
        <p:spPr>
          <a:xfrm>
            <a:off x="365760" y="2971800"/>
            <a:ext cx="4205880" cy="1508400"/>
          </a:xfrm>
          <a:prstGeom prst="roundRect">
            <a:avLst>
              <a:gd name="adj" fmla="val 4848"/>
            </a:avLst>
          </a:prstGeom>
          <a:solidFill>
            <a:srgbClr val="ffffff"/>
          </a:solidFill>
          <a:ln w="1905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61" name="Image 2" descr="preencoded.png"/>
          <p:cNvPicPr/>
          <p:nvPr/>
        </p:nvPicPr>
        <p:blipFill>
          <a:blip r:embed="rId3"/>
          <a:stretch/>
        </p:blipFill>
        <p:spPr>
          <a:xfrm>
            <a:off x="567000" y="3474720"/>
            <a:ext cx="411120" cy="411120"/>
          </a:xfrm>
          <a:prstGeom prst="rect">
            <a:avLst/>
          </a:prstGeom>
          <a:ln w="0">
            <a:noFill/>
          </a:ln>
        </p:spPr>
      </p:pic>
      <p:sp>
        <p:nvSpPr>
          <p:cNvPr id="62" name="Text 10"/>
          <p:cNvSpPr/>
          <p:nvPr/>
        </p:nvSpPr>
        <p:spPr>
          <a:xfrm>
            <a:off x="1115640" y="3136320"/>
            <a:ext cx="329148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1a3a3a"/>
                </a:solidFill>
                <a:latin typeface="Cambria"/>
                <a:ea typeface="Cambria"/>
              </a:rPr>
              <a:t>Penalties Uncollected</a:t>
            </a:r>
            <a:endParaRPr b="0" lang="en-IN" sz="1400" spc="-1" strike="noStrike">
              <a:latin typeface="Arial"/>
            </a:endParaRPr>
          </a:p>
        </p:txBody>
      </p:sp>
      <p:sp>
        <p:nvSpPr>
          <p:cNvPr id="63" name="Text 11"/>
          <p:cNvSpPr/>
          <p:nvPr/>
        </p:nvSpPr>
        <p:spPr>
          <a:xfrm>
            <a:off x="1115640" y="3502080"/>
            <a:ext cx="3291480" cy="776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64748b"/>
                </a:solidFill>
                <a:latin typeface="Calibri"/>
                <a:ea typeface="Calibri"/>
              </a:rPr>
              <a:t>Penalty clauses exist in every contract. Fines are almost never charged.</a:t>
            </a:r>
            <a:endParaRPr b="0" lang="en-IN" sz="1150" spc="-1" strike="noStrike">
              <a:latin typeface="Arial"/>
            </a:endParaRPr>
          </a:p>
        </p:txBody>
      </p:sp>
      <p:sp>
        <p:nvSpPr>
          <p:cNvPr id="64" name="Shape 12"/>
          <p:cNvSpPr/>
          <p:nvPr/>
        </p:nvSpPr>
        <p:spPr>
          <a:xfrm>
            <a:off x="4754880" y="2971800"/>
            <a:ext cx="4205880" cy="1508400"/>
          </a:xfrm>
          <a:prstGeom prst="roundRect">
            <a:avLst>
              <a:gd name="adj" fmla="val 4848"/>
            </a:avLst>
          </a:prstGeom>
          <a:solidFill>
            <a:srgbClr val="ffffff"/>
          </a:solidFill>
          <a:ln w="1905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65" name="Image 3" descr="preencoded.png"/>
          <p:cNvPicPr/>
          <p:nvPr/>
        </p:nvPicPr>
        <p:blipFill>
          <a:blip r:embed="rId4"/>
          <a:stretch/>
        </p:blipFill>
        <p:spPr>
          <a:xfrm>
            <a:off x="4956120" y="3474720"/>
            <a:ext cx="411120" cy="411120"/>
          </a:xfrm>
          <a:prstGeom prst="rect">
            <a:avLst/>
          </a:prstGeom>
          <a:ln w="0">
            <a:noFill/>
          </a:ln>
        </p:spPr>
      </p:pic>
      <p:sp>
        <p:nvSpPr>
          <p:cNvPr id="66" name="Text 13"/>
          <p:cNvSpPr/>
          <p:nvPr/>
        </p:nvSpPr>
        <p:spPr>
          <a:xfrm>
            <a:off x="5504760" y="3136320"/>
            <a:ext cx="329148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1a3a3a"/>
                </a:solidFill>
                <a:latin typeface="Cambria"/>
                <a:ea typeface="Cambria"/>
              </a:rPr>
              <a:t>Bad Renewals</a:t>
            </a:r>
            <a:endParaRPr b="0" lang="en-IN" sz="1400" spc="-1" strike="noStrike">
              <a:latin typeface="Arial"/>
            </a:endParaRPr>
          </a:p>
        </p:txBody>
      </p:sp>
      <p:sp>
        <p:nvSpPr>
          <p:cNvPr id="67" name="Text 14"/>
          <p:cNvSpPr/>
          <p:nvPr/>
        </p:nvSpPr>
        <p:spPr>
          <a:xfrm>
            <a:off x="5504760" y="3502080"/>
            <a:ext cx="3291480" cy="776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64748b"/>
                </a:solidFill>
                <a:latin typeface="Calibri"/>
                <a:ea typeface="Calibri"/>
              </a:rPr>
              <a:t>Underperforming vendors auto-renew because no one checked the data.</a:t>
            </a:r>
            <a:endParaRPr b="0" lang="en-IN" sz="11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2b2e"/>
        </a:solidFill>
      </p:bgPr>
    </p:bg>
    <p:spTree>
      <p:nvGrpSpPr>
        <p:cNvPr id="1" name=""/>
        <p:cNvGrpSpPr/>
        <p:nvPr/>
      </p:nvGrpSpPr>
      <p:grpSpPr>
        <a:xfrm>
          <a:off x="0" y="0"/>
          <a:ext cx="0" cy="0"/>
          <a:chOff x="0" y="0"/>
          <a:chExt cx="0" cy="0"/>
        </a:xfrm>
      </p:grpSpPr>
      <p:sp>
        <p:nvSpPr>
          <p:cNvPr id="68" name="Shape 0"/>
          <p:cNvSpPr/>
          <p:nvPr/>
        </p:nvSpPr>
        <p:spPr>
          <a:xfrm>
            <a:off x="6858000" y="-914400"/>
            <a:ext cx="3657240" cy="3657240"/>
          </a:xfrm>
          <a:prstGeom prst="ellipse">
            <a:avLst/>
          </a:prstGeom>
          <a:solidFill>
            <a:srgbClr val="028090">
              <a:alpha val="20000"/>
            </a:srgbClr>
          </a:solidFill>
          <a:ln w="12700">
            <a:solidFill>
              <a:srgbClr val="028090">
                <a:alpha val="20000"/>
              </a:srgbClr>
            </a:solidFill>
            <a:round/>
          </a:ln>
        </p:spPr>
        <p:style>
          <a:lnRef idx="0"/>
          <a:fillRef idx="0"/>
          <a:effectRef idx="0"/>
          <a:fontRef idx="minor"/>
        </p:style>
      </p:sp>
      <p:sp>
        <p:nvSpPr>
          <p:cNvPr id="69" name="Text 1"/>
          <p:cNvSpPr/>
          <p:nvPr/>
        </p:nvSpPr>
        <p:spPr>
          <a:xfrm>
            <a:off x="457200" y="274320"/>
            <a:ext cx="457164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2c39a"/>
                </a:solidFill>
                <a:latin typeface="Calibri"/>
                <a:ea typeface="Calibri"/>
              </a:rPr>
              <a:t>A REAL EXAMPLE</a:t>
            </a:r>
            <a:endParaRPr b="0" lang="en-IN" sz="1000" spc="-1" strike="noStrike">
              <a:latin typeface="Arial"/>
            </a:endParaRPr>
          </a:p>
        </p:txBody>
      </p:sp>
      <p:sp>
        <p:nvSpPr>
          <p:cNvPr id="70" name="Text 2"/>
          <p:cNvSpPr/>
          <p:nvPr/>
        </p:nvSpPr>
        <p:spPr>
          <a:xfrm>
            <a:off x="457200" y="685800"/>
            <a:ext cx="59432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ffffff"/>
                </a:solidFill>
                <a:latin typeface="Cambria"/>
                <a:ea typeface="Cambria"/>
              </a:rPr>
              <a:t>Money Lost Every Month —</a:t>
            </a:r>
            <a:endParaRPr b="0" lang="en-IN" sz="2600" spc="-1" strike="noStrike">
              <a:latin typeface="Arial"/>
            </a:endParaRPr>
          </a:p>
          <a:p>
            <a:pPr>
              <a:lnSpc>
                <a:spcPct val="100000"/>
              </a:lnSpc>
              <a:buNone/>
              <a:tabLst>
                <a:tab algn="l" pos="0"/>
              </a:tabLst>
            </a:pPr>
            <a:r>
              <a:rPr b="1" lang="en-US" sz="2600" spc="-1" strike="noStrike">
                <a:solidFill>
                  <a:srgbClr val="ffffff"/>
                </a:solidFill>
                <a:latin typeface="Cambria"/>
                <a:ea typeface="Cambria"/>
              </a:rPr>
              <a:t>Without Anyone Noticing</a:t>
            </a:r>
            <a:endParaRPr b="0" lang="en-IN" sz="2600" spc="-1" strike="noStrike">
              <a:latin typeface="Arial"/>
            </a:endParaRPr>
          </a:p>
        </p:txBody>
      </p:sp>
      <p:sp>
        <p:nvSpPr>
          <p:cNvPr id="71" name="Shape 3"/>
          <p:cNvSpPr/>
          <p:nvPr/>
        </p:nvSpPr>
        <p:spPr>
          <a:xfrm>
            <a:off x="365760" y="1783080"/>
            <a:ext cx="3931560" cy="1645560"/>
          </a:xfrm>
          <a:prstGeom prst="roundRect">
            <a:avLst>
              <a:gd name="adj" fmla="val 4444"/>
            </a:avLst>
          </a:prstGeom>
          <a:solidFill>
            <a:srgbClr val="0a3a40"/>
          </a:solidFill>
          <a:ln w="19050">
            <a:solidFill>
              <a:srgbClr val="00a896"/>
            </a:solidFill>
            <a:round/>
          </a:ln>
        </p:spPr>
        <p:style>
          <a:lnRef idx="0"/>
          <a:fillRef idx="0"/>
          <a:effectRef idx="0"/>
          <a:fontRef idx="minor"/>
        </p:style>
      </p:sp>
      <p:sp>
        <p:nvSpPr>
          <p:cNvPr id="72" name="Text 4"/>
          <p:cNvSpPr/>
          <p:nvPr/>
        </p:nvSpPr>
        <p:spPr>
          <a:xfrm>
            <a:off x="548640" y="1874520"/>
            <a:ext cx="356580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50" spc="299" strike="noStrike">
                <a:solidFill>
                  <a:srgbClr val="02c39a"/>
                </a:solidFill>
                <a:latin typeface="Calibri"/>
                <a:ea typeface="Calibri"/>
              </a:rPr>
              <a:t>CONTRACT SAYS</a:t>
            </a:r>
            <a:endParaRPr b="0" lang="en-IN" sz="850" spc="-1" strike="noStrike">
              <a:latin typeface="Arial"/>
            </a:endParaRPr>
          </a:p>
        </p:txBody>
      </p:sp>
      <p:sp>
        <p:nvSpPr>
          <p:cNvPr id="73" name="Text 5"/>
          <p:cNvSpPr/>
          <p:nvPr/>
        </p:nvSpPr>
        <p:spPr>
          <a:xfrm>
            <a:off x="548640" y="2212920"/>
            <a:ext cx="3565800" cy="1096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400" spc="-1" strike="noStrike">
                <a:solidFill>
                  <a:srgbClr val="aaaaaa"/>
                </a:solidFill>
                <a:latin typeface="Calibri"/>
                <a:ea typeface="Calibri"/>
              </a:rPr>
              <a:t>Deliver baggage within </a:t>
            </a:r>
            <a:r>
              <a:rPr b="1" lang="en-US" sz="1400" spc="-1" strike="noStrike">
                <a:solidFill>
                  <a:srgbClr val="ffffff"/>
                </a:solidFill>
                <a:latin typeface="Calibri"/>
                <a:ea typeface="Calibri"/>
              </a:rPr>
              <a:t>30 minutes</a:t>
            </a:r>
            <a:r>
              <a:rPr b="0" lang="en-US" sz="1400" spc="-1" strike="noStrike">
                <a:solidFill>
                  <a:srgbClr val="aaaaaa"/>
                </a:solidFill>
                <a:latin typeface="Calibri"/>
                <a:ea typeface="Calibri"/>
              </a:rPr>
              <a:t> of landing.</a:t>
            </a:r>
            <a:endParaRPr b="0" lang="en-IN" sz="1400" spc="-1" strike="noStrike">
              <a:latin typeface="Arial"/>
            </a:endParaRPr>
          </a:p>
          <a:p>
            <a:pPr>
              <a:lnSpc>
                <a:spcPct val="100000"/>
              </a:lnSpc>
              <a:buNone/>
              <a:tabLst>
                <a:tab algn="l" pos="0"/>
              </a:tabLst>
            </a:pPr>
            <a:r>
              <a:rPr b="0" lang="en-US" sz="1400" spc="-1" strike="noStrike">
                <a:solidFill>
                  <a:srgbClr val="aaaaaa"/>
                </a:solidFill>
                <a:latin typeface="Calibri"/>
                <a:ea typeface="Calibri"/>
              </a:rPr>
              <a:t>Each breach = </a:t>
            </a:r>
            <a:endParaRPr b="0" lang="en-IN" sz="1400" spc="-1" strike="noStrike">
              <a:latin typeface="Arial"/>
            </a:endParaRPr>
          </a:p>
          <a:p>
            <a:pPr>
              <a:lnSpc>
                <a:spcPct val="100000"/>
              </a:lnSpc>
              <a:buNone/>
              <a:tabLst>
                <a:tab algn="l" pos="0"/>
              </a:tabLst>
            </a:pPr>
            <a:r>
              <a:rPr b="1" lang="en-US" sz="1400" spc="-1" strike="noStrike">
                <a:solidFill>
                  <a:srgbClr val="f4a261"/>
                </a:solidFill>
                <a:latin typeface="Calibri"/>
                <a:ea typeface="Calibri"/>
              </a:rPr>
              <a:t>$150 fine</a:t>
            </a:r>
            <a:endParaRPr b="0" lang="en-IN" sz="1400" spc="-1" strike="noStrike">
              <a:latin typeface="Arial"/>
            </a:endParaRPr>
          </a:p>
        </p:txBody>
      </p:sp>
      <p:sp>
        <p:nvSpPr>
          <p:cNvPr id="74" name="Shape 6"/>
          <p:cNvSpPr/>
          <p:nvPr/>
        </p:nvSpPr>
        <p:spPr>
          <a:xfrm>
            <a:off x="4389120" y="2606040"/>
            <a:ext cx="640080" cy="360"/>
          </a:xfrm>
          <a:prstGeom prst="line">
            <a:avLst/>
          </a:prstGeom>
          <a:ln w="25400">
            <a:solidFill>
              <a:srgbClr val="64748b"/>
            </a:solidFill>
            <a:prstDash val="dash"/>
            <a:round/>
          </a:ln>
        </p:spPr>
        <p:style>
          <a:lnRef idx="0"/>
          <a:fillRef idx="0"/>
          <a:effectRef idx="0"/>
          <a:fontRef idx="minor"/>
        </p:style>
      </p:sp>
      <p:sp>
        <p:nvSpPr>
          <p:cNvPr id="75" name="Shape 7"/>
          <p:cNvSpPr/>
          <p:nvPr/>
        </p:nvSpPr>
        <p:spPr>
          <a:xfrm>
            <a:off x="5120640" y="1783080"/>
            <a:ext cx="3657240" cy="1645560"/>
          </a:xfrm>
          <a:prstGeom prst="roundRect">
            <a:avLst>
              <a:gd name="adj" fmla="val 4444"/>
            </a:avLst>
          </a:prstGeom>
          <a:solidFill>
            <a:srgbClr val="2d1a0e"/>
          </a:solidFill>
          <a:ln w="19050">
            <a:solidFill>
              <a:srgbClr val="e76f51"/>
            </a:solidFill>
            <a:round/>
          </a:ln>
        </p:spPr>
        <p:style>
          <a:lnRef idx="0"/>
          <a:fillRef idx="0"/>
          <a:effectRef idx="0"/>
          <a:fontRef idx="minor"/>
        </p:style>
      </p:sp>
      <p:sp>
        <p:nvSpPr>
          <p:cNvPr id="76" name="Text 8"/>
          <p:cNvSpPr/>
          <p:nvPr/>
        </p:nvSpPr>
        <p:spPr>
          <a:xfrm>
            <a:off x="5303520" y="1874520"/>
            <a:ext cx="329148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50" spc="299" strike="noStrike">
                <a:solidFill>
                  <a:srgbClr val="f4a261"/>
                </a:solidFill>
                <a:latin typeface="Calibri"/>
                <a:ea typeface="Calibri"/>
              </a:rPr>
              <a:t>REALITY THIS MONTH</a:t>
            </a:r>
            <a:endParaRPr b="0" lang="en-IN" sz="850" spc="-1" strike="noStrike">
              <a:latin typeface="Arial"/>
            </a:endParaRPr>
          </a:p>
        </p:txBody>
      </p:sp>
      <p:sp>
        <p:nvSpPr>
          <p:cNvPr id="77" name="Text 9"/>
          <p:cNvSpPr/>
          <p:nvPr/>
        </p:nvSpPr>
        <p:spPr>
          <a:xfrm>
            <a:off x="5303520" y="2212920"/>
            <a:ext cx="32914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ffffff"/>
                </a:solidFill>
                <a:latin typeface="Calibri"/>
                <a:ea typeface="Calibri"/>
              </a:rPr>
              <a:t>43 breaches </a:t>
            </a:r>
            <a:r>
              <a:rPr b="0" lang="en-US" sz="1400" spc="-1" strike="noStrike">
                <a:solidFill>
                  <a:srgbClr val="aaaaaa"/>
                </a:solidFill>
                <a:latin typeface="Calibri"/>
                <a:ea typeface="Calibri"/>
              </a:rPr>
              <a:t>× $150 = </a:t>
            </a:r>
            <a:endParaRPr b="0" lang="en-IN" sz="1400" spc="-1" strike="noStrike">
              <a:latin typeface="Arial"/>
            </a:endParaRPr>
          </a:p>
        </p:txBody>
      </p:sp>
      <p:sp>
        <p:nvSpPr>
          <p:cNvPr id="78" name="Text 10"/>
          <p:cNvSpPr/>
          <p:nvPr/>
        </p:nvSpPr>
        <p:spPr>
          <a:xfrm>
            <a:off x="5303520" y="2633400"/>
            <a:ext cx="32914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200" spc="-1" strike="noStrike">
                <a:solidFill>
                  <a:srgbClr val="e76f51"/>
                </a:solidFill>
                <a:latin typeface="Cambria"/>
                <a:ea typeface="Cambria"/>
              </a:rPr>
              <a:t>$6,450</a:t>
            </a:r>
            <a:endParaRPr b="0" lang="en-IN" sz="3200" spc="-1" strike="noStrike">
              <a:latin typeface="Arial"/>
            </a:endParaRPr>
          </a:p>
        </p:txBody>
      </p:sp>
      <p:sp>
        <p:nvSpPr>
          <p:cNvPr id="79" name="Shape 11"/>
          <p:cNvSpPr/>
          <p:nvPr/>
        </p:nvSpPr>
        <p:spPr>
          <a:xfrm>
            <a:off x="365760" y="3749040"/>
            <a:ext cx="8412120" cy="822600"/>
          </a:xfrm>
          <a:prstGeom prst="roundRect">
            <a:avLst>
              <a:gd name="adj" fmla="val 6667"/>
            </a:avLst>
          </a:prstGeom>
          <a:solidFill>
            <a:srgbClr val="028090"/>
          </a:solidFill>
          <a:ln w="12700">
            <a:solidFill>
              <a:srgbClr val="028090"/>
            </a:solidFill>
            <a:round/>
          </a:ln>
        </p:spPr>
        <p:style>
          <a:lnRef idx="0"/>
          <a:fillRef idx="0"/>
          <a:effectRef idx="0"/>
          <a:fontRef idx="minor"/>
        </p:style>
      </p:sp>
      <p:sp>
        <p:nvSpPr>
          <p:cNvPr id="80" name="Text 12"/>
          <p:cNvSpPr/>
          <p:nvPr/>
        </p:nvSpPr>
        <p:spPr>
          <a:xfrm>
            <a:off x="502920" y="3749040"/>
            <a:ext cx="8229240" cy="822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350" spc="-1" strike="noStrike">
                <a:solidFill>
                  <a:srgbClr val="ffffff"/>
                </a:solidFill>
                <a:latin typeface="Calibri"/>
                <a:ea typeface="Calibri"/>
              </a:rPr>
              <a:t>Nobody noticed. Contract auto-renewed. Airport lost $6,450 for free.   AeroLedger catches this automatically.</a:t>
            </a:r>
            <a:endParaRPr b="0" lang="en-IN" sz="13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afa"/>
        </a:solidFill>
      </p:bgPr>
    </p:bg>
    <p:spTree>
      <p:nvGrpSpPr>
        <p:cNvPr id="1" name=""/>
        <p:cNvGrpSpPr/>
        <p:nvPr/>
      </p:nvGrpSpPr>
      <p:grpSpPr>
        <a:xfrm>
          <a:off x="0" y="0"/>
          <a:ext cx="0" cy="0"/>
          <a:chOff x="0" y="0"/>
          <a:chExt cx="0" cy="0"/>
        </a:xfrm>
      </p:grpSpPr>
      <p:sp>
        <p:nvSpPr>
          <p:cNvPr id="81" name="Shape 0"/>
          <p:cNvSpPr/>
          <p:nvPr/>
        </p:nvSpPr>
        <p:spPr>
          <a:xfrm>
            <a:off x="0" y="0"/>
            <a:ext cx="9143640" cy="1005480"/>
          </a:xfrm>
          <a:prstGeom prst="rect">
            <a:avLst/>
          </a:prstGeom>
          <a:solidFill>
            <a:srgbClr val="028090"/>
          </a:solidFill>
          <a:ln w="12700">
            <a:solidFill>
              <a:srgbClr val="028090"/>
            </a:solidFill>
            <a:round/>
          </a:ln>
        </p:spPr>
        <p:style>
          <a:lnRef idx="0"/>
          <a:fillRef idx="0"/>
          <a:effectRef idx="0"/>
          <a:fontRef idx="minor"/>
        </p:style>
      </p:sp>
      <p:sp>
        <p:nvSpPr>
          <p:cNvPr id="82" name="Text 1"/>
          <p:cNvSpPr/>
          <p:nvPr/>
        </p:nvSpPr>
        <p:spPr>
          <a:xfrm>
            <a:off x="457200" y="-288000"/>
            <a:ext cx="822924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497" strike="noStrike">
                <a:solidFill>
                  <a:srgbClr val="02c39a"/>
                </a:solidFill>
                <a:latin typeface="Calibri"/>
                <a:ea typeface="Calibri"/>
              </a:rPr>
              <a:t>THREE TYPES OF USERS</a:t>
            </a:r>
            <a:endParaRPr b="0" lang="en-IN" sz="1100" spc="-1" strike="noStrike">
              <a:latin typeface="Arial"/>
            </a:endParaRPr>
          </a:p>
        </p:txBody>
      </p:sp>
      <p:sp>
        <p:nvSpPr>
          <p:cNvPr id="83" name="Text 2"/>
          <p:cNvSpPr/>
          <p:nvPr/>
        </p:nvSpPr>
        <p:spPr>
          <a:xfrm>
            <a:off x="0" y="108000"/>
            <a:ext cx="8229240" cy="10054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200" spc="-1" strike="noStrike">
                <a:solidFill>
                  <a:srgbClr val="ffffff"/>
                </a:solidFill>
                <a:latin typeface="Cambria"/>
                <a:ea typeface="Cambria"/>
              </a:rPr>
              <a:t>Built for Airports, Vendors &amp; Administrators</a:t>
            </a:r>
            <a:endParaRPr b="0" lang="en-IN" sz="2200" spc="-1" strike="noStrike">
              <a:latin typeface="Arial"/>
            </a:endParaRPr>
          </a:p>
        </p:txBody>
      </p:sp>
      <p:sp>
        <p:nvSpPr>
          <p:cNvPr id="84" name="Shape 3"/>
          <p:cNvSpPr/>
          <p:nvPr/>
        </p:nvSpPr>
        <p:spPr>
          <a:xfrm>
            <a:off x="274320" y="1143000"/>
            <a:ext cx="2788560" cy="3748680"/>
          </a:xfrm>
          <a:prstGeom prst="roundRect">
            <a:avLst>
              <a:gd name="adj" fmla="val 3279"/>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sp>
        <p:nvSpPr>
          <p:cNvPr id="85" name="Shape 4"/>
          <p:cNvSpPr/>
          <p:nvPr/>
        </p:nvSpPr>
        <p:spPr>
          <a:xfrm>
            <a:off x="274320" y="1143000"/>
            <a:ext cx="2788560" cy="1005480"/>
          </a:xfrm>
          <a:prstGeom prst="roundRect">
            <a:avLst>
              <a:gd name="adj" fmla="val 9091"/>
            </a:avLst>
          </a:prstGeom>
          <a:solidFill>
            <a:srgbClr val="028090"/>
          </a:solidFill>
          <a:ln w="12700">
            <a:solidFill>
              <a:srgbClr val="028090"/>
            </a:solidFill>
            <a:round/>
          </a:ln>
        </p:spPr>
        <p:style>
          <a:lnRef idx="0"/>
          <a:fillRef idx="0"/>
          <a:effectRef idx="0"/>
          <a:fontRef idx="minor"/>
        </p:style>
      </p:sp>
      <p:sp>
        <p:nvSpPr>
          <p:cNvPr id="86" name="Shape 5"/>
          <p:cNvSpPr/>
          <p:nvPr/>
        </p:nvSpPr>
        <p:spPr>
          <a:xfrm>
            <a:off x="274320" y="1691640"/>
            <a:ext cx="2788560" cy="456840"/>
          </a:xfrm>
          <a:prstGeom prst="rect">
            <a:avLst/>
          </a:prstGeom>
          <a:solidFill>
            <a:srgbClr val="028090"/>
          </a:solidFill>
          <a:ln w="12700">
            <a:solidFill>
              <a:srgbClr val="028090"/>
            </a:solidFill>
            <a:round/>
          </a:ln>
        </p:spPr>
        <p:style>
          <a:lnRef idx="0"/>
          <a:fillRef idx="0"/>
          <a:effectRef idx="0"/>
          <a:fontRef idx="minor"/>
        </p:style>
      </p:sp>
      <p:pic>
        <p:nvPicPr>
          <p:cNvPr id="87" name="Image 0" descr="preencoded.png"/>
          <p:cNvPicPr/>
          <p:nvPr/>
        </p:nvPicPr>
        <p:blipFill>
          <a:blip r:embed="rId1"/>
          <a:stretch/>
        </p:blipFill>
        <p:spPr>
          <a:xfrm>
            <a:off x="1353240" y="1270440"/>
            <a:ext cx="639720" cy="639720"/>
          </a:xfrm>
          <a:prstGeom prst="rect">
            <a:avLst/>
          </a:prstGeom>
          <a:ln w="0">
            <a:noFill/>
          </a:ln>
        </p:spPr>
      </p:pic>
      <p:sp>
        <p:nvSpPr>
          <p:cNvPr id="88" name="Text 6"/>
          <p:cNvSpPr/>
          <p:nvPr/>
        </p:nvSpPr>
        <p:spPr>
          <a:xfrm>
            <a:off x="365760" y="2155680"/>
            <a:ext cx="2605680" cy="347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400" spc="-1" strike="noStrike">
                <a:solidFill>
                  <a:srgbClr val="1a3a3a"/>
                </a:solidFill>
                <a:latin typeface="Cambria"/>
                <a:ea typeface="Cambria"/>
              </a:rPr>
              <a:t>Contracts Manager</a:t>
            </a:r>
            <a:endParaRPr b="0" lang="en-IN" sz="1400" spc="-1" strike="noStrike">
              <a:latin typeface="Arial"/>
            </a:endParaRPr>
          </a:p>
        </p:txBody>
      </p:sp>
      <p:sp>
        <p:nvSpPr>
          <p:cNvPr id="89" name="Text 7"/>
          <p:cNvSpPr/>
          <p:nvPr/>
        </p:nvSpPr>
        <p:spPr>
          <a:xfrm>
            <a:off x="365760" y="2475720"/>
            <a:ext cx="260568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028090"/>
                </a:solidFill>
                <a:latin typeface="Calibri"/>
                <a:ea typeface="Calibri"/>
              </a:rPr>
              <a:t>Airport Side</a:t>
            </a:r>
            <a:endParaRPr b="0" lang="en-IN" sz="1000" spc="-1" strike="noStrike">
              <a:latin typeface="Arial"/>
            </a:endParaRPr>
          </a:p>
        </p:txBody>
      </p:sp>
      <p:sp>
        <p:nvSpPr>
          <p:cNvPr id="90" name="Text 8"/>
          <p:cNvSpPr/>
          <p:nvPr/>
        </p:nvSpPr>
        <p:spPr>
          <a:xfrm>
            <a:off x="438840" y="2670120"/>
            <a:ext cx="2486880" cy="2011320"/>
          </a:xfrm>
          <a:prstGeom prst="rect">
            <a:avLst/>
          </a:prstGeom>
          <a:noFill/>
          <a:ln w="0">
            <a:noFill/>
          </a:ln>
        </p:spPr>
        <p:style>
          <a:lnRef idx="0"/>
          <a:fillRef idx="0"/>
          <a:effectRef idx="0"/>
          <a:fontRef idx="minor"/>
        </p:style>
        <p:txBody>
          <a:bodyPr lIns="90000" rIns="90000" tIns="45000" bIns="45000" anchor="ctr">
            <a:noAutofit/>
          </a:bodyPr>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Upload &amp; manage vendor contracts</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View live SLA compliance scores</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Receive breach alerts instantly</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Generate penalty invoices</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Data-driven renewal decisions</a:t>
            </a:r>
            <a:endParaRPr b="0" lang="en-IN" sz="1100" spc="-1" strike="noStrike">
              <a:latin typeface="Arial"/>
            </a:endParaRPr>
          </a:p>
        </p:txBody>
      </p:sp>
      <p:sp>
        <p:nvSpPr>
          <p:cNvPr id="91" name="Shape 9"/>
          <p:cNvSpPr/>
          <p:nvPr/>
        </p:nvSpPr>
        <p:spPr>
          <a:xfrm>
            <a:off x="3200400" y="1143000"/>
            <a:ext cx="2788560" cy="3748680"/>
          </a:xfrm>
          <a:prstGeom prst="roundRect">
            <a:avLst>
              <a:gd name="adj" fmla="val 3279"/>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sp>
        <p:nvSpPr>
          <p:cNvPr id="92" name="Shape 10"/>
          <p:cNvSpPr/>
          <p:nvPr/>
        </p:nvSpPr>
        <p:spPr>
          <a:xfrm>
            <a:off x="3200400" y="1143000"/>
            <a:ext cx="2788560" cy="1005480"/>
          </a:xfrm>
          <a:prstGeom prst="roundRect">
            <a:avLst>
              <a:gd name="adj" fmla="val 9091"/>
            </a:avLst>
          </a:prstGeom>
          <a:solidFill>
            <a:srgbClr val="e76f51"/>
          </a:solidFill>
          <a:ln w="12700">
            <a:solidFill>
              <a:srgbClr val="e76f51"/>
            </a:solidFill>
            <a:round/>
          </a:ln>
        </p:spPr>
        <p:style>
          <a:lnRef idx="0"/>
          <a:fillRef idx="0"/>
          <a:effectRef idx="0"/>
          <a:fontRef idx="minor"/>
        </p:style>
      </p:sp>
      <p:sp>
        <p:nvSpPr>
          <p:cNvPr id="93" name="Shape 11"/>
          <p:cNvSpPr/>
          <p:nvPr/>
        </p:nvSpPr>
        <p:spPr>
          <a:xfrm>
            <a:off x="3200400" y="1691640"/>
            <a:ext cx="2788560" cy="456840"/>
          </a:xfrm>
          <a:prstGeom prst="rect">
            <a:avLst/>
          </a:prstGeom>
          <a:solidFill>
            <a:srgbClr val="e76f51"/>
          </a:solidFill>
          <a:ln w="12700">
            <a:solidFill>
              <a:srgbClr val="e76f51"/>
            </a:solidFill>
            <a:round/>
          </a:ln>
        </p:spPr>
        <p:style>
          <a:lnRef idx="0"/>
          <a:fillRef idx="0"/>
          <a:effectRef idx="0"/>
          <a:fontRef idx="minor"/>
        </p:style>
      </p:sp>
      <p:pic>
        <p:nvPicPr>
          <p:cNvPr id="94" name="Image 1" descr="preencoded.png"/>
          <p:cNvPicPr/>
          <p:nvPr/>
        </p:nvPicPr>
        <p:blipFill>
          <a:blip r:embed="rId2"/>
          <a:stretch/>
        </p:blipFill>
        <p:spPr>
          <a:xfrm>
            <a:off x="4279320" y="1306440"/>
            <a:ext cx="639720" cy="639720"/>
          </a:xfrm>
          <a:prstGeom prst="rect">
            <a:avLst/>
          </a:prstGeom>
          <a:ln w="0">
            <a:noFill/>
          </a:ln>
        </p:spPr>
      </p:pic>
      <p:sp>
        <p:nvSpPr>
          <p:cNvPr id="95" name="Text 12"/>
          <p:cNvSpPr/>
          <p:nvPr/>
        </p:nvSpPr>
        <p:spPr>
          <a:xfrm>
            <a:off x="3291840" y="2191680"/>
            <a:ext cx="2605680" cy="347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400" spc="-1" strike="noStrike">
                <a:solidFill>
                  <a:srgbClr val="1a3a3a"/>
                </a:solidFill>
                <a:latin typeface="Cambria"/>
                <a:ea typeface="Cambria"/>
              </a:rPr>
              <a:t>Vendor</a:t>
            </a:r>
            <a:endParaRPr b="0" lang="en-IN" sz="1400" spc="-1" strike="noStrike">
              <a:latin typeface="Arial"/>
            </a:endParaRPr>
          </a:p>
        </p:txBody>
      </p:sp>
      <p:sp>
        <p:nvSpPr>
          <p:cNvPr id="96" name="Text 13"/>
          <p:cNvSpPr/>
          <p:nvPr/>
        </p:nvSpPr>
        <p:spPr>
          <a:xfrm>
            <a:off x="3291840" y="2511720"/>
            <a:ext cx="260568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e76f51"/>
                </a:solidFill>
                <a:latin typeface="Calibri"/>
                <a:ea typeface="Calibri"/>
              </a:rPr>
              <a:t>Ground Handler</a:t>
            </a:r>
            <a:endParaRPr b="0" lang="en-IN" sz="1000" spc="-1" strike="noStrike">
              <a:latin typeface="Arial"/>
            </a:endParaRPr>
          </a:p>
        </p:txBody>
      </p:sp>
      <p:sp>
        <p:nvSpPr>
          <p:cNvPr id="97" name="Text 14"/>
          <p:cNvSpPr/>
          <p:nvPr/>
        </p:nvSpPr>
        <p:spPr>
          <a:xfrm>
            <a:off x="3364920" y="2670120"/>
            <a:ext cx="2486880" cy="2011320"/>
          </a:xfrm>
          <a:prstGeom prst="rect">
            <a:avLst/>
          </a:prstGeom>
          <a:noFill/>
          <a:ln w="0">
            <a:noFill/>
          </a:ln>
        </p:spPr>
        <p:style>
          <a:lnRef idx="0"/>
          <a:fillRef idx="0"/>
          <a:effectRef idx="0"/>
          <a:fontRef idx="minor"/>
        </p:style>
        <p:txBody>
          <a:bodyPr lIns="90000" rIns="90000" tIns="45000" bIns="45000" anchor="ctr">
            <a:noAutofit/>
          </a:bodyPr>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View own performance score</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See breach count &amp; penalty total</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Track renewal risk status</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Raise dispute on flagged breaches</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Monthly scorecard access</a:t>
            </a:r>
            <a:endParaRPr b="0" lang="en-IN" sz="1100" spc="-1" strike="noStrike">
              <a:latin typeface="Arial"/>
            </a:endParaRPr>
          </a:p>
        </p:txBody>
      </p:sp>
      <p:sp>
        <p:nvSpPr>
          <p:cNvPr id="98" name="Shape 15"/>
          <p:cNvSpPr/>
          <p:nvPr/>
        </p:nvSpPr>
        <p:spPr>
          <a:xfrm>
            <a:off x="6126480" y="1143000"/>
            <a:ext cx="2788560" cy="3748680"/>
          </a:xfrm>
          <a:prstGeom prst="roundRect">
            <a:avLst>
              <a:gd name="adj" fmla="val 3279"/>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sp>
        <p:nvSpPr>
          <p:cNvPr id="99" name="Shape 16"/>
          <p:cNvSpPr/>
          <p:nvPr/>
        </p:nvSpPr>
        <p:spPr>
          <a:xfrm>
            <a:off x="6126480" y="1143000"/>
            <a:ext cx="2788560" cy="1005480"/>
          </a:xfrm>
          <a:prstGeom prst="roundRect">
            <a:avLst>
              <a:gd name="adj" fmla="val 9091"/>
            </a:avLst>
          </a:prstGeom>
          <a:solidFill>
            <a:srgbClr val="00a896"/>
          </a:solidFill>
          <a:ln w="12700">
            <a:solidFill>
              <a:srgbClr val="00a896"/>
            </a:solidFill>
            <a:round/>
          </a:ln>
        </p:spPr>
        <p:style>
          <a:lnRef idx="0"/>
          <a:fillRef idx="0"/>
          <a:effectRef idx="0"/>
          <a:fontRef idx="minor"/>
        </p:style>
      </p:sp>
      <p:sp>
        <p:nvSpPr>
          <p:cNvPr id="100" name="Shape 17"/>
          <p:cNvSpPr/>
          <p:nvPr/>
        </p:nvSpPr>
        <p:spPr>
          <a:xfrm>
            <a:off x="6126480" y="1691640"/>
            <a:ext cx="2788560" cy="456840"/>
          </a:xfrm>
          <a:prstGeom prst="rect">
            <a:avLst/>
          </a:prstGeom>
          <a:solidFill>
            <a:srgbClr val="00a896"/>
          </a:solidFill>
          <a:ln w="12700">
            <a:solidFill>
              <a:srgbClr val="00a896"/>
            </a:solidFill>
            <a:round/>
          </a:ln>
        </p:spPr>
        <p:style>
          <a:lnRef idx="0"/>
          <a:fillRef idx="0"/>
          <a:effectRef idx="0"/>
          <a:fontRef idx="minor"/>
        </p:style>
      </p:sp>
      <p:pic>
        <p:nvPicPr>
          <p:cNvPr id="101" name="Image 2" descr="preencoded.png"/>
          <p:cNvPicPr/>
          <p:nvPr/>
        </p:nvPicPr>
        <p:blipFill>
          <a:blip r:embed="rId3"/>
          <a:stretch/>
        </p:blipFill>
        <p:spPr>
          <a:xfrm>
            <a:off x="7205400" y="1306440"/>
            <a:ext cx="639720" cy="639720"/>
          </a:xfrm>
          <a:prstGeom prst="rect">
            <a:avLst/>
          </a:prstGeom>
          <a:ln w="0">
            <a:noFill/>
          </a:ln>
        </p:spPr>
      </p:pic>
      <p:sp>
        <p:nvSpPr>
          <p:cNvPr id="102" name="Text 18"/>
          <p:cNvSpPr/>
          <p:nvPr/>
        </p:nvSpPr>
        <p:spPr>
          <a:xfrm>
            <a:off x="6217920" y="2191680"/>
            <a:ext cx="2605680" cy="347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400" spc="-1" strike="noStrike">
                <a:solidFill>
                  <a:srgbClr val="1a3a3a"/>
                </a:solidFill>
                <a:latin typeface="Cambria"/>
                <a:ea typeface="Cambria"/>
              </a:rPr>
              <a:t>Admin</a:t>
            </a:r>
            <a:endParaRPr b="0" lang="en-IN" sz="1400" spc="-1" strike="noStrike">
              <a:latin typeface="Arial"/>
            </a:endParaRPr>
          </a:p>
        </p:txBody>
      </p:sp>
      <p:sp>
        <p:nvSpPr>
          <p:cNvPr id="103" name="Text 19"/>
          <p:cNvSpPr/>
          <p:nvPr/>
        </p:nvSpPr>
        <p:spPr>
          <a:xfrm>
            <a:off x="6217920" y="2547720"/>
            <a:ext cx="260568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00a896"/>
                </a:solidFill>
                <a:latin typeface="Calibri"/>
                <a:ea typeface="Calibri"/>
              </a:rPr>
              <a:t>Platform Level</a:t>
            </a:r>
            <a:endParaRPr b="0" lang="en-IN" sz="1000" spc="-1" strike="noStrike">
              <a:latin typeface="Arial"/>
            </a:endParaRPr>
          </a:p>
        </p:txBody>
      </p:sp>
      <p:sp>
        <p:nvSpPr>
          <p:cNvPr id="104" name="Text 20"/>
          <p:cNvSpPr/>
          <p:nvPr/>
        </p:nvSpPr>
        <p:spPr>
          <a:xfrm>
            <a:off x="6291000" y="2670120"/>
            <a:ext cx="2486880" cy="2011320"/>
          </a:xfrm>
          <a:prstGeom prst="rect">
            <a:avLst/>
          </a:prstGeom>
          <a:noFill/>
          <a:ln w="0">
            <a:noFill/>
          </a:ln>
        </p:spPr>
        <p:style>
          <a:lnRef idx="0"/>
          <a:fillRef idx="0"/>
          <a:effectRef idx="0"/>
          <a:fontRef idx="minor"/>
        </p:style>
        <p:txBody>
          <a:bodyPr lIns="90000" rIns="90000" tIns="45000" bIns="45000" anchor="ctr">
            <a:noAutofit/>
          </a:bodyPr>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Monitor all airports at once</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Cross-airport vendor comparisons</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Platform-wide analytics</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User &amp; permission management</a:t>
            </a:r>
            <a:endParaRPr b="0" lang="en-IN" sz="1100" spc="-1" strike="noStrike">
              <a:latin typeface="Arial"/>
            </a:endParaRPr>
          </a:p>
          <a:p>
            <a:pPr marL="343080" indent="-343080">
              <a:lnSpc>
                <a:spcPct val="100000"/>
              </a:lnSpc>
              <a:buClr>
                <a:srgbClr val="64748b"/>
              </a:buClr>
              <a:buFont typeface="Symbol" charset="2"/>
              <a:buChar char=""/>
            </a:pPr>
            <a:r>
              <a:rPr b="0" lang="en-US" sz="1100" spc="-1" strike="noStrike">
                <a:solidFill>
                  <a:srgbClr val="64748b"/>
                </a:solidFill>
                <a:latin typeface="Calibri"/>
                <a:ea typeface="Calibri"/>
              </a:rPr>
              <a:t>System health monitoring</a:t>
            </a:r>
            <a:endParaRPr b="0" lang="en-IN" sz="11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afa"/>
        </a:solidFill>
      </p:bgPr>
    </p:bg>
    <p:spTree>
      <p:nvGrpSpPr>
        <p:cNvPr id="1" name=""/>
        <p:cNvGrpSpPr/>
        <p:nvPr/>
      </p:nvGrpSpPr>
      <p:grpSpPr>
        <a:xfrm>
          <a:off x="0" y="0"/>
          <a:ext cx="0" cy="0"/>
          <a:chOff x="0" y="0"/>
          <a:chExt cx="0" cy="0"/>
        </a:xfrm>
      </p:grpSpPr>
      <p:sp>
        <p:nvSpPr>
          <p:cNvPr id="105" name="Shape 0"/>
          <p:cNvSpPr/>
          <p:nvPr/>
        </p:nvSpPr>
        <p:spPr>
          <a:xfrm>
            <a:off x="0" y="0"/>
            <a:ext cx="9143640" cy="1005480"/>
          </a:xfrm>
          <a:prstGeom prst="rect">
            <a:avLst/>
          </a:prstGeom>
          <a:solidFill>
            <a:srgbClr val="028090"/>
          </a:solidFill>
          <a:ln w="12700">
            <a:solidFill>
              <a:srgbClr val="028090"/>
            </a:solidFill>
            <a:round/>
          </a:ln>
        </p:spPr>
        <p:style>
          <a:lnRef idx="0"/>
          <a:fillRef idx="0"/>
          <a:effectRef idx="0"/>
          <a:fontRef idx="minor"/>
        </p:style>
      </p:sp>
      <p:sp>
        <p:nvSpPr>
          <p:cNvPr id="106" name="Text 1"/>
          <p:cNvSpPr/>
          <p:nvPr/>
        </p:nvSpPr>
        <p:spPr>
          <a:xfrm>
            <a:off x="457200" y="0"/>
            <a:ext cx="822924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497" strike="noStrike">
                <a:solidFill>
                  <a:srgbClr val="02c39a"/>
                </a:solidFill>
                <a:latin typeface="Calibri"/>
                <a:ea typeface="Calibri"/>
              </a:rPr>
              <a:t>HOW IT WORKS</a:t>
            </a:r>
            <a:endParaRPr b="0" lang="en-IN" sz="1100" spc="-1" strike="noStrike">
              <a:latin typeface="Arial"/>
            </a:endParaRPr>
          </a:p>
        </p:txBody>
      </p:sp>
      <p:sp>
        <p:nvSpPr>
          <p:cNvPr id="107" name="Text 2"/>
          <p:cNvSpPr/>
          <p:nvPr/>
        </p:nvSpPr>
        <p:spPr>
          <a:xfrm>
            <a:off x="457200" y="0"/>
            <a:ext cx="8229240" cy="10054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200" spc="-1" strike="noStrike">
                <a:solidFill>
                  <a:srgbClr val="ffffff"/>
                </a:solidFill>
                <a:latin typeface="Cambria"/>
                <a:ea typeface="Cambria"/>
              </a:rPr>
              <a:t>5-Phase Automated Lifecycle</a:t>
            </a:r>
            <a:endParaRPr b="0" lang="en-IN" sz="2200" spc="-1" strike="noStrike">
              <a:latin typeface="Arial"/>
            </a:endParaRPr>
          </a:p>
        </p:txBody>
      </p:sp>
      <p:sp>
        <p:nvSpPr>
          <p:cNvPr id="108" name="Shape 3"/>
          <p:cNvSpPr/>
          <p:nvPr/>
        </p:nvSpPr>
        <p:spPr>
          <a:xfrm>
            <a:off x="649080" y="1143000"/>
            <a:ext cx="776880" cy="776880"/>
          </a:xfrm>
          <a:prstGeom prst="ellipse">
            <a:avLst/>
          </a:prstGeom>
          <a:solidFill>
            <a:srgbClr val="028090"/>
          </a:solidFill>
          <a:ln w="12700">
            <a:solidFill>
              <a:srgbClr val="028090"/>
            </a:solidFill>
            <a:round/>
          </a:ln>
        </p:spPr>
        <p:style>
          <a:lnRef idx="0"/>
          <a:fillRef idx="0"/>
          <a:effectRef idx="0"/>
          <a:fontRef idx="minor"/>
        </p:style>
      </p:sp>
      <p:sp>
        <p:nvSpPr>
          <p:cNvPr id="109" name="Text 4"/>
          <p:cNvSpPr/>
          <p:nvPr/>
        </p:nvSpPr>
        <p:spPr>
          <a:xfrm>
            <a:off x="649080" y="1143000"/>
            <a:ext cx="77688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ffffff"/>
                </a:solidFill>
                <a:latin typeface="Cambria"/>
                <a:ea typeface="Cambria"/>
              </a:rPr>
              <a:t>01</a:t>
            </a:r>
            <a:endParaRPr b="0" lang="en-IN" sz="1800" spc="-1" strike="noStrike">
              <a:latin typeface="Arial"/>
            </a:endParaRPr>
          </a:p>
        </p:txBody>
      </p:sp>
      <p:sp>
        <p:nvSpPr>
          <p:cNvPr id="110" name="Shape 5"/>
          <p:cNvSpPr/>
          <p:nvPr/>
        </p:nvSpPr>
        <p:spPr>
          <a:xfrm>
            <a:off x="1517760" y="1531440"/>
            <a:ext cx="384120" cy="360"/>
          </a:xfrm>
          <a:prstGeom prst="line">
            <a:avLst/>
          </a:prstGeom>
          <a:ln w="19050">
            <a:solidFill>
              <a:srgbClr val="64748b"/>
            </a:solidFill>
            <a:round/>
          </a:ln>
        </p:spPr>
        <p:style>
          <a:lnRef idx="0"/>
          <a:fillRef idx="0"/>
          <a:effectRef idx="0"/>
          <a:fontRef idx="minor"/>
        </p:style>
      </p:sp>
      <p:sp>
        <p:nvSpPr>
          <p:cNvPr id="111" name="Shape 6"/>
          <p:cNvSpPr/>
          <p:nvPr/>
        </p:nvSpPr>
        <p:spPr>
          <a:xfrm>
            <a:off x="255960" y="2103120"/>
            <a:ext cx="1572480" cy="2651400"/>
          </a:xfrm>
          <a:prstGeom prst="roundRect">
            <a:avLst>
              <a:gd name="adj" fmla="val 465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sp>
        <p:nvSpPr>
          <p:cNvPr id="112" name="Shape 7"/>
          <p:cNvSpPr/>
          <p:nvPr/>
        </p:nvSpPr>
        <p:spPr>
          <a:xfrm>
            <a:off x="255960" y="2103120"/>
            <a:ext cx="1572480" cy="383760"/>
          </a:xfrm>
          <a:prstGeom prst="roundRect">
            <a:avLst>
              <a:gd name="adj" fmla="val 19048"/>
            </a:avLst>
          </a:prstGeom>
          <a:solidFill>
            <a:srgbClr val="028090"/>
          </a:solidFill>
          <a:ln w="12700">
            <a:solidFill>
              <a:srgbClr val="028090"/>
            </a:solidFill>
            <a:round/>
          </a:ln>
        </p:spPr>
        <p:style>
          <a:lnRef idx="0"/>
          <a:fillRef idx="0"/>
          <a:effectRef idx="0"/>
          <a:fontRef idx="minor"/>
        </p:style>
      </p:sp>
      <p:sp>
        <p:nvSpPr>
          <p:cNvPr id="113" name="Shape 8"/>
          <p:cNvSpPr/>
          <p:nvPr/>
        </p:nvSpPr>
        <p:spPr>
          <a:xfrm>
            <a:off x="255960" y="2359080"/>
            <a:ext cx="1572480" cy="127800"/>
          </a:xfrm>
          <a:prstGeom prst="rect">
            <a:avLst/>
          </a:prstGeom>
          <a:solidFill>
            <a:srgbClr val="028090"/>
          </a:solidFill>
          <a:ln w="12700">
            <a:solidFill>
              <a:srgbClr val="028090"/>
            </a:solidFill>
            <a:round/>
          </a:ln>
        </p:spPr>
        <p:style>
          <a:lnRef idx="0"/>
          <a:fillRef idx="0"/>
          <a:effectRef idx="0"/>
          <a:fontRef idx="minor"/>
        </p:style>
      </p:sp>
      <p:sp>
        <p:nvSpPr>
          <p:cNvPr id="114" name="Text 9"/>
          <p:cNvSpPr/>
          <p:nvPr/>
        </p:nvSpPr>
        <p:spPr>
          <a:xfrm>
            <a:off x="255960" y="2103120"/>
            <a:ext cx="15724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00" spc="-1" strike="noStrike">
                <a:solidFill>
                  <a:srgbClr val="ffffff"/>
                </a:solidFill>
                <a:latin typeface="Cambria"/>
                <a:ea typeface="Cambria"/>
              </a:rPr>
              <a:t>Ingest</a:t>
            </a:r>
            <a:endParaRPr b="0" lang="en-IN" sz="1300" spc="-1" strike="noStrike">
              <a:latin typeface="Arial"/>
            </a:endParaRPr>
          </a:p>
        </p:txBody>
      </p:sp>
      <p:sp>
        <p:nvSpPr>
          <p:cNvPr id="115" name="Text 10"/>
          <p:cNvSpPr/>
          <p:nvPr/>
        </p:nvSpPr>
        <p:spPr>
          <a:xfrm>
            <a:off x="347400" y="2578680"/>
            <a:ext cx="1389600" cy="201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100" spc="-1" strike="noStrike">
                <a:solidFill>
                  <a:srgbClr val="64748b"/>
                </a:solidFill>
                <a:latin typeface="Calibri"/>
                <a:ea typeface="Calibri"/>
              </a:rPr>
              <a:t>Upload PDF → AI extracts SLA terms, penalties, dates</a:t>
            </a:r>
            <a:endParaRPr b="0" lang="en-IN" sz="1100" spc="-1" strike="noStrike">
              <a:latin typeface="Arial"/>
            </a:endParaRPr>
          </a:p>
        </p:txBody>
      </p:sp>
      <p:sp>
        <p:nvSpPr>
          <p:cNvPr id="116" name="Shape 11"/>
          <p:cNvSpPr/>
          <p:nvPr/>
        </p:nvSpPr>
        <p:spPr>
          <a:xfrm>
            <a:off x="2386440" y="1143000"/>
            <a:ext cx="776880" cy="776880"/>
          </a:xfrm>
          <a:prstGeom prst="ellipse">
            <a:avLst/>
          </a:prstGeom>
          <a:solidFill>
            <a:srgbClr val="00a896"/>
          </a:solidFill>
          <a:ln w="12700">
            <a:solidFill>
              <a:srgbClr val="00a896"/>
            </a:solidFill>
            <a:round/>
          </a:ln>
        </p:spPr>
        <p:style>
          <a:lnRef idx="0"/>
          <a:fillRef idx="0"/>
          <a:effectRef idx="0"/>
          <a:fontRef idx="minor"/>
        </p:style>
      </p:sp>
      <p:sp>
        <p:nvSpPr>
          <p:cNvPr id="117" name="Text 12"/>
          <p:cNvSpPr/>
          <p:nvPr/>
        </p:nvSpPr>
        <p:spPr>
          <a:xfrm>
            <a:off x="2386440" y="1143000"/>
            <a:ext cx="77688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ffffff"/>
                </a:solidFill>
                <a:latin typeface="Cambria"/>
                <a:ea typeface="Cambria"/>
              </a:rPr>
              <a:t>02</a:t>
            </a:r>
            <a:endParaRPr b="0" lang="en-IN" sz="1800" spc="-1" strike="noStrike">
              <a:latin typeface="Arial"/>
            </a:endParaRPr>
          </a:p>
        </p:txBody>
      </p:sp>
      <p:sp>
        <p:nvSpPr>
          <p:cNvPr id="118" name="Shape 13"/>
          <p:cNvSpPr/>
          <p:nvPr/>
        </p:nvSpPr>
        <p:spPr>
          <a:xfrm>
            <a:off x="3255120" y="1531440"/>
            <a:ext cx="384120" cy="360"/>
          </a:xfrm>
          <a:prstGeom prst="line">
            <a:avLst/>
          </a:prstGeom>
          <a:ln w="19050">
            <a:solidFill>
              <a:srgbClr val="64748b"/>
            </a:solidFill>
            <a:round/>
          </a:ln>
        </p:spPr>
        <p:style>
          <a:lnRef idx="0"/>
          <a:fillRef idx="0"/>
          <a:effectRef idx="0"/>
          <a:fontRef idx="minor"/>
        </p:style>
      </p:sp>
      <p:sp>
        <p:nvSpPr>
          <p:cNvPr id="119" name="Shape 14"/>
          <p:cNvSpPr/>
          <p:nvPr/>
        </p:nvSpPr>
        <p:spPr>
          <a:xfrm>
            <a:off x="1993320" y="2103120"/>
            <a:ext cx="1572480" cy="2651400"/>
          </a:xfrm>
          <a:prstGeom prst="roundRect">
            <a:avLst>
              <a:gd name="adj" fmla="val 465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sp>
        <p:nvSpPr>
          <p:cNvPr id="120" name="Shape 15"/>
          <p:cNvSpPr/>
          <p:nvPr/>
        </p:nvSpPr>
        <p:spPr>
          <a:xfrm>
            <a:off x="1993320" y="2103120"/>
            <a:ext cx="1572480" cy="383760"/>
          </a:xfrm>
          <a:prstGeom prst="roundRect">
            <a:avLst>
              <a:gd name="adj" fmla="val 19048"/>
            </a:avLst>
          </a:prstGeom>
          <a:solidFill>
            <a:srgbClr val="00a896"/>
          </a:solidFill>
          <a:ln w="12700">
            <a:solidFill>
              <a:srgbClr val="00a896"/>
            </a:solidFill>
            <a:round/>
          </a:ln>
        </p:spPr>
        <p:style>
          <a:lnRef idx="0"/>
          <a:fillRef idx="0"/>
          <a:effectRef idx="0"/>
          <a:fontRef idx="minor"/>
        </p:style>
      </p:sp>
      <p:sp>
        <p:nvSpPr>
          <p:cNvPr id="121" name="Shape 16"/>
          <p:cNvSpPr/>
          <p:nvPr/>
        </p:nvSpPr>
        <p:spPr>
          <a:xfrm>
            <a:off x="1993320" y="2359080"/>
            <a:ext cx="1572480" cy="127800"/>
          </a:xfrm>
          <a:prstGeom prst="rect">
            <a:avLst/>
          </a:prstGeom>
          <a:solidFill>
            <a:srgbClr val="00a896"/>
          </a:solidFill>
          <a:ln w="12700">
            <a:solidFill>
              <a:srgbClr val="00a896"/>
            </a:solidFill>
            <a:round/>
          </a:ln>
        </p:spPr>
        <p:style>
          <a:lnRef idx="0"/>
          <a:fillRef idx="0"/>
          <a:effectRef idx="0"/>
          <a:fontRef idx="minor"/>
        </p:style>
      </p:sp>
      <p:sp>
        <p:nvSpPr>
          <p:cNvPr id="122" name="Text 17"/>
          <p:cNvSpPr/>
          <p:nvPr/>
        </p:nvSpPr>
        <p:spPr>
          <a:xfrm>
            <a:off x="1993320" y="2103120"/>
            <a:ext cx="15724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00" spc="-1" strike="noStrike">
                <a:solidFill>
                  <a:srgbClr val="ffffff"/>
                </a:solidFill>
                <a:latin typeface="Cambria"/>
                <a:ea typeface="Cambria"/>
              </a:rPr>
              <a:t>Track</a:t>
            </a:r>
            <a:endParaRPr b="0" lang="en-IN" sz="1300" spc="-1" strike="noStrike">
              <a:latin typeface="Arial"/>
            </a:endParaRPr>
          </a:p>
        </p:txBody>
      </p:sp>
      <p:sp>
        <p:nvSpPr>
          <p:cNvPr id="123" name="Text 18"/>
          <p:cNvSpPr/>
          <p:nvPr/>
        </p:nvSpPr>
        <p:spPr>
          <a:xfrm>
            <a:off x="2084760" y="2578680"/>
            <a:ext cx="1389600" cy="201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100" spc="-1" strike="noStrike">
                <a:solidFill>
                  <a:srgbClr val="64748b"/>
                </a:solidFill>
                <a:latin typeface="Calibri"/>
                <a:ea typeface="Calibri"/>
              </a:rPr>
              <a:t>Daily performance vs SLA threshold → live compliance score</a:t>
            </a:r>
            <a:endParaRPr b="0" lang="en-IN" sz="1100" spc="-1" strike="noStrike">
              <a:latin typeface="Arial"/>
            </a:endParaRPr>
          </a:p>
        </p:txBody>
      </p:sp>
      <p:sp>
        <p:nvSpPr>
          <p:cNvPr id="124" name="Shape 19"/>
          <p:cNvSpPr/>
          <p:nvPr/>
        </p:nvSpPr>
        <p:spPr>
          <a:xfrm>
            <a:off x="4123800" y="1143000"/>
            <a:ext cx="776880" cy="776880"/>
          </a:xfrm>
          <a:prstGeom prst="ellipse">
            <a:avLst/>
          </a:prstGeom>
          <a:solidFill>
            <a:srgbClr val="02c39a"/>
          </a:solidFill>
          <a:ln w="12700">
            <a:solidFill>
              <a:srgbClr val="02c39a"/>
            </a:solidFill>
            <a:round/>
          </a:ln>
        </p:spPr>
        <p:style>
          <a:lnRef idx="0"/>
          <a:fillRef idx="0"/>
          <a:effectRef idx="0"/>
          <a:fontRef idx="minor"/>
        </p:style>
      </p:sp>
      <p:sp>
        <p:nvSpPr>
          <p:cNvPr id="125" name="Text 20"/>
          <p:cNvSpPr/>
          <p:nvPr/>
        </p:nvSpPr>
        <p:spPr>
          <a:xfrm>
            <a:off x="4123800" y="1143000"/>
            <a:ext cx="77688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ffffff"/>
                </a:solidFill>
                <a:latin typeface="Cambria"/>
                <a:ea typeface="Cambria"/>
              </a:rPr>
              <a:t>03</a:t>
            </a:r>
            <a:endParaRPr b="0" lang="en-IN" sz="1800" spc="-1" strike="noStrike">
              <a:latin typeface="Arial"/>
            </a:endParaRPr>
          </a:p>
        </p:txBody>
      </p:sp>
      <p:sp>
        <p:nvSpPr>
          <p:cNvPr id="126" name="Shape 21"/>
          <p:cNvSpPr/>
          <p:nvPr/>
        </p:nvSpPr>
        <p:spPr>
          <a:xfrm>
            <a:off x="4992480" y="1531440"/>
            <a:ext cx="384120" cy="360"/>
          </a:xfrm>
          <a:prstGeom prst="line">
            <a:avLst/>
          </a:prstGeom>
          <a:ln w="19050">
            <a:solidFill>
              <a:srgbClr val="64748b"/>
            </a:solidFill>
            <a:round/>
          </a:ln>
        </p:spPr>
        <p:style>
          <a:lnRef idx="0"/>
          <a:fillRef idx="0"/>
          <a:effectRef idx="0"/>
          <a:fontRef idx="minor"/>
        </p:style>
      </p:sp>
      <p:sp>
        <p:nvSpPr>
          <p:cNvPr id="127" name="Shape 22"/>
          <p:cNvSpPr/>
          <p:nvPr/>
        </p:nvSpPr>
        <p:spPr>
          <a:xfrm>
            <a:off x="3730680" y="2103120"/>
            <a:ext cx="1572480" cy="2651400"/>
          </a:xfrm>
          <a:prstGeom prst="roundRect">
            <a:avLst>
              <a:gd name="adj" fmla="val 465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sp>
        <p:nvSpPr>
          <p:cNvPr id="128" name="Shape 23"/>
          <p:cNvSpPr/>
          <p:nvPr/>
        </p:nvSpPr>
        <p:spPr>
          <a:xfrm>
            <a:off x="3730680" y="2103120"/>
            <a:ext cx="1572480" cy="383760"/>
          </a:xfrm>
          <a:prstGeom prst="roundRect">
            <a:avLst>
              <a:gd name="adj" fmla="val 19048"/>
            </a:avLst>
          </a:prstGeom>
          <a:solidFill>
            <a:srgbClr val="02c39a"/>
          </a:solidFill>
          <a:ln w="12700">
            <a:solidFill>
              <a:srgbClr val="02c39a"/>
            </a:solidFill>
            <a:round/>
          </a:ln>
        </p:spPr>
        <p:style>
          <a:lnRef idx="0"/>
          <a:fillRef idx="0"/>
          <a:effectRef idx="0"/>
          <a:fontRef idx="minor"/>
        </p:style>
      </p:sp>
      <p:sp>
        <p:nvSpPr>
          <p:cNvPr id="129" name="Shape 24"/>
          <p:cNvSpPr/>
          <p:nvPr/>
        </p:nvSpPr>
        <p:spPr>
          <a:xfrm>
            <a:off x="3730680" y="2359080"/>
            <a:ext cx="1572480" cy="127800"/>
          </a:xfrm>
          <a:prstGeom prst="rect">
            <a:avLst/>
          </a:prstGeom>
          <a:solidFill>
            <a:srgbClr val="02c39a"/>
          </a:solidFill>
          <a:ln w="12700">
            <a:solidFill>
              <a:srgbClr val="02c39a"/>
            </a:solidFill>
            <a:round/>
          </a:ln>
        </p:spPr>
        <p:style>
          <a:lnRef idx="0"/>
          <a:fillRef idx="0"/>
          <a:effectRef idx="0"/>
          <a:fontRef idx="minor"/>
        </p:style>
      </p:sp>
      <p:sp>
        <p:nvSpPr>
          <p:cNvPr id="130" name="Text 25"/>
          <p:cNvSpPr/>
          <p:nvPr/>
        </p:nvSpPr>
        <p:spPr>
          <a:xfrm>
            <a:off x="3730680" y="2103120"/>
            <a:ext cx="15724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00" spc="-1" strike="noStrike">
                <a:solidFill>
                  <a:srgbClr val="ffffff"/>
                </a:solidFill>
                <a:latin typeface="Cambria"/>
                <a:ea typeface="Cambria"/>
              </a:rPr>
              <a:t>Detect</a:t>
            </a:r>
            <a:endParaRPr b="0" lang="en-IN" sz="1300" spc="-1" strike="noStrike">
              <a:latin typeface="Arial"/>
            </a:endParaRPr>
          </a:p>
        </p:txBody>
      </p:sp>
      <p:sp>
        <p:nvSpPr>
          <p:cNvPr id="131" name="Text 26"/>
          <p:cNvSpPr/>
          <p:nvPr/>
        </p:nvSpPr>
        <p:spPr>
          <a:xfrm>
            <a:off x="3822120" y="2578680"/>
            <a:ext cx="1389600" cy="201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100" spc="-1" strike="noStrike">
                <a:solidFill>
                  <a:srgbClr val="64748b"/>
                </a:solidFill>
                <a:latin typeface="Calibri"/>
                <a:ea typeface="Calibri"/>
              </a:rPr>
              <a:t>Threshold breached → logged with timestamp + flight number</a:t>
            </a:r>
            <a:endParaRPr b="0" lang="en-IN" sz="1100" spc="-1" strike="noStrike">
              <a:latin typeface="Arial"/>
            </a:endParaRPr>
          </a:p>
        </p:txBody>
      </p:sp>
      <p:sp>
        <p:nvSpPr>
          <p:cNvPr id="132" name="Shape 27"/>
          <p:cNvSpPr/>
          <p:nvPr/>
        </p:nvSpPr>
        <p:spPr>
          <a:xfrm>
            <a:off x="5861160" y="1143000"/>
            <a:ext cx="776880" cy="776880"/>
          </a:xfrm>
          <a:prstGeom prst="ellipse">
            <a:avLst/>
          </a:prstGeom>
          <a:solidFill>
            <a:srgbClr val="f4a261"/>
          </a:solidFill>
          <a:ln w="12700">
            <a:solidFill>
              <a:srgbClr val="f4a261"/>
            </a:solidFill>
            <a:round/>
          </a:ln>
        </p:spPr>
        <p:style>
          <a:lnRef idx="0"/>
          <a:fillRef idx="0"/>
          <a:effectRef idx="0"/>
          <a:fontRef idx="minor"/>
        </p:style>
      </p:sp>
      <p:sp>
        <p:nvSpPr>
          <p:cNvPr id="133" name="Text 28"/>
          <p:cNvSpPr/>
          <p:nvPr/>
        </p:nvSpPr>
        <p:spPr>
          <a:xfrm>
            <a:off x="5861160" y="1143000"/>
            <a:ext cx="77688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ffffff"/>
                </a:solidFill>
                <a:latin typeface="Cambria"/>
                <a:ea typeface="Cambria"/>
              </a:rPr>
              <a:t>04</a:t>
            </a:r>
            <a:endParaRPr b="0" lang="en-IN" sz="1800" spc="-1" strike="noStrike">
              <a:latin typeface="Arial"/>
            </a:endParaRPr>
          </a:p>
        </p:txBody>
      </p:sp>
      <p:sp>
        <p:nvSpPr>
          <p:cNvPr id="134" name="Shape 29"/>
          <p:cNvSpPr/>
          <p:nvPr/>
        </p:nvSpPr>
        <p:spPr>
          <a:xfrm>
            <a:off x="6729840" y="1531440"/>
            <a:ext cx="384120" cy="360"/>
          </a:xfrm>
          <a:prstGeom prst="line">
            <a:avLst/>
          </a:prstGeom>
          <a:ln w="19050">
            <a:solidFill>
              <a:srgbClr val="64748b"/>
            </a:solidFill>
            <a:round/>
          </a:ln>
        </p:spPr>
        <p:style>
          <a:lnRef idx="0"/>
          <a:fillRef idx="0"/>
          <a:effectRef idx="0"/>
          <a:fontRef idx="minor"/>
        </p:style>
      </p:sp>
      <p:sp>
        <p:nvSpPr>
          <p:cNvPr id="135" name="Shape 30"/>
          <p:cNvSpPr/>
          <p:nvPr/>
        </p:nvSpPr>
        <p:spPr>
          <a:xfrm>
            <a:off x="5468040" y="2103120"/>
            <a:ext cx="1572480" cy="2651400"/>
          </a:xfrm>
          <a:prstGeom prst="roundRect">
            <a:avLst>
              <a:gd name="adj" fmla="val 465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sp>
        <p:nvSpPr>
          <p:cNvPr id="136" name="Shape 31"/>
          <p:cNvSpPr/>
          <p:nvPr/>
        </p:nvSpPr>
        <p:spPr>
          <a:xfrm>
            <a:off x="5468040" y="2103120"/>
            <a:ext cx="1572480" cy="383760"/>
          </a:xfrm>
          <a:prstGeom prst="roundRect">
            <a:avLst>
              <a:gd name="adj" fmla="val 19048"/>
            </a:avLst>
          </a:prstGeom>
          <a:solidFill>
            <a:srgbClr val="f4a261"/>
          </a:solidFill>
          <a:ln w="12700">
            <a:solidFill>
              <a:srgbClr val="f4a261"/>
            </a:solidFill>
            <a:round/>
          </a:ln>
        </p:spPr>
        <p:style>
          <a:lnRef idx="0"/>
          <a:fillRef idx="0"/>
          <a:effectRef idx="0"/>
          <a:fontRef idx="minor"/>
        </p:style>
      </p:sp>
      <p:sp>
        <p:nvSpPr>
          <p:cNvPr id="137" name="Shape 32"/>
          <p:cNvSpPr/>
          <p:nvPr/>
        </p:nvSpPr>
        <p:spPr>
          <a:xfrm>
            <a:off x="5468040" y="2359080"/>
            <a:ext cx="1572480" cy="127800"/>
          </a:xfrm>
          <a:prstGeom prst="rect">
            <a:avLst/>
          </a:prstGeom>
          <a:solidFill>
            <a:srgbClr val="f4a261"/>
          </a:solidFill>
          <a:ln w="12700">
            <a:solidFill>
              <a:srgbClr val="f4a261"/>
            </a:solidFill>
            <a:round/>
          </a:ln>
        </p:spPr>
        <p:style>
          <a:lnRef idx="0"/>
          <a:fillRef idx="0"/>
          <a:effectRef idx="0"/>
          <a:fontRef idx="minor"/>
        </p:style>
      </p:sp>
      <p:sp>
        <p:nvSpPr>
          <p:cNvPr id="138" name="Text 33"/>
          <p:cNvSpPr/>
          <p:nvPr/>
        </p:nvSpPr>
        <p:spPr>
          <a:xfrm>
            <a:off x="5468040" y="2103120"/>
            <a:ext cx="15724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00" spc="-1" strike="noStrike">
                <a:solidFill>
                  <a:srgbClr val="ffffff"/>
                </a:solidFill>
                <a:latin typeface="Cambria"/>
                <a:ea typeface="Cambria"/>
              </a:rPr>
              <a:t>Calculate</a:t>
            </a:r>
            <a:endParaRPr b="0" lang="en-IN" sz="1300" spc="-1" strike="noStrike">
              <a:latin typeface="Arial"/>
            </a:endParaRPr>
          </a:p>
        </p:txBody>
      </p:sp>
      <p:sp>
        <p:nvSpPr>
          <p:cNvPr id="139" name="Text 34"/>
          <p:cNvSpPr/>
          <p:nvPr/>
        </p:nvSpPr>
        <p:spPr>
          <a:xfrm>
            <a:off x="5559480" y="2578680"/>
            <a:ext cx="1389600" cy="201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100" spc="-1" strike="noStrike">
                <a:solidFill>
                  <a:srgbClr val="64748b"/>
                </a:solidFill>
                <a:latin typeface="Calibri"/>
                <a:ea typeface="Calibri"/>
              </a:rPr>
              <a:t>Breaches × penalty clause = invoice PDF auto-generated</a:t>
            </a:r>
            <a:endParaRPr b="0" lang="en-IN" sz="1100" spc="-1" strike="noStrike">
              <a:latin typeface="Arial"/>
            </a:endParaRPr>
          </a:p>
        </p:txBody>
      </p:sp>
      <p:sp>
        <p:nvSpPr>
          <p:cNvPr id="140" name="Shape 35"/>
          <p:cNvSpPr/>
          <p:nvPr/>
        </p:nvSpPr>
        <p:spPr>
          <a:xfrm>
            <a:off x="7598520" y="1143000"/>
            <a:ext cx="776880" cy="776880"/>
          </a:xfrm>
          <a:prstGeom prst="ellipse">
            <a:avLst/>
          </a:prstGeom>
          <a:solidFill>
            <a:srgbClr val="e76f51"/>
          </a:solidFill>
          <a:ln w="12700">
            <a:solidFill>
              <a:srgbClr val="e76f51"/>
            </a:solidFill>
            <a:round/>
          </a:ln>
        </p:spPr>
        <p:style>
          <a:lnRef idx="0"/>
          <a:fillRef idx="0"/>
          <a:effectRef idx="0"/>
          <a:fontRef idx="minor"/>
        </p:style>
      </p:sp>
      <p:sp>
        <p:nvSpPr>
          <p:cNvPr id="141" name="Text 36"/>
          <p:cNvSpPr/>
          <p:nvPr/>
        </p:nvSpPr>
        <p:spPr>
          <a:xfrm>
            <a:off x="7598520" y="1143000"/>
            <a:ext cx="77688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ffffff"/>
                </a:solidFill>
                <a:latin typeface="Cambria"/>
                <a:ea typeface="Cambria"/>
              </a:rPr>
              <a:t>05</a:t>
            </a:r>
            <a:endParaRPr b="0" lang="en-IN" sz="1800" spc="-1" strike="noStrike">
              <a:latin typeface="Arial"/>
            </a:endParaRPr>
          </a:p>
        </p:txBody>
      </p:sp>
      <p:sp>
        <p:nvSpPr>
          <p:cNvPr id="142" name="Shape 37"/>
          <p:cNvSpPr/>
          <p:nvPr/>
        </p:nvSpPr>
        <p:spPr>
          <a:xfrm>
            <a:off x="7205400" y="2103120"/>
            <a:ext cx="1572480" cy="2651400"/>
          </a:xfrm>
          <a:prstGeom prst="roundRect">
            <a:avLst>
              <a:gd name="adj" fmla="val 465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sp>
        <p:nvSpPr>
          <p:cNvPr id="143" name="Shape 38"/>
          <p:cNvSpPr/>
          <p:nvPr/>
        </p:nvSpPr>
        <p:spPr>
          <a:xfrm>
            <a:off x="7205400" y="2103120"/>
            <a:ext cx="1572480" cy="383760"/>
          </a:xfrm>
          <a:prstGeom prst="roundRect">
            <a:avLst>
              <a:gd name="adj" fmla="val 19048"/>
            </a:avLst>
          </a:prstGeom>
          <a:solidFill>
            <a:srgbClr val="e76f51"/>
          </a:solidFill>
          <a:ln w="12700">
            <a:solidFill>
              <a:srgbClr val="e76f51"/>
            </a:solidFill>
            <a:round/>
          </a:ln>
        </p:spPr>
        <p:style>
          <a:lnRef idx="0"/>
          <a:fillRef idx="0"/>
          <a:effectRef idx="0"/>
          <a:fontRef idx="minor"/>
        </p:style>
      </p:sp>
      <p:sp>
        <p:nvSpPr>
          <p:cNvPr id="144" name="Shape 39"/>
          <p:cNvSpPr/>
          <p:nvPr/>
        </p:nvSpPr>
        <p:spPr>
          <a:xfrm>
            <a:off x="7205400" y="2359080"/>
            <a:ext cx="1572480" cy="127800"/>
          </a:xfrm>
          <a:prstGeom prst="rect">
            <a:avLst/>
          </a:prstGeom>
          <a:solidFill>
            <a:srgbClr val="e76f51"/>
          </a:solidFill>
          <a:ln w="12700">
            <a:solidFill>
              <a:srgbClr val="e76f51"/>
            </a:solidFill>
            <a:round/>
          </a:ln>
        </p:spPr>
        <p:style>
          <a:lnRef idx="0"/>
          <a:fillRef idx="0"/>
          <a:effectRef idx="0"/>
          <a:fontRef idx="minor"/>
        </p:style>
      </p:sp>
      <p:sp>
        <p:nvSpPr>
          <p:cNvPr id="145" name="Text 40"/>
          <p:cNvSpPr/>
          <p:nvPr/>
        </p:nvSpPr>
        <p:spPr>
          <a:xfrm>
            <a:off x="7205400" y="2103120"/>
            <a:ext cx="157248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00" spc="-1" strike="noStrike">
                <a:solidFill>
                  <a:srgbClr val="ffffff"/>
                </a:solidFill>
                <a:latin typeface="Cambria"/>
                <a:ea typeface="Cambria"/>
              </a:rPr>
              <a:t>Renew</a:t>
            </a:r>
            <a:endParaRPr b="0" lang="en-IN" sz="1300" spc="-1" strike="noStrike">
              <a:latin typeface="Arial"/>
            </a:endParaRPr>
          </a:p>
        </p:txBody>
      </p:sp>
      <p:sp>
        <p:nvSpPr>
          <p:cNvPr id="146" name="Text 41"/>
          <p:cNvSpPr/>
          <p:nvPr/>
        </p:nvSpPr>
        <p:spPr>
          <a:xfrm>
            <a:off x="7296840" y="2578680"/>
            <a:ext cx="1389600" cy="2011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100" spc="-1" strike="noStrike">
                <a:solidFill>
                  <a:srgbClr val="64748b"/>
                </a:solidFill>
                <a:latin typeface="Calibri"/>
                <a:ea typeface="Calibri"/>
              </a:rPr>
              <a:t>90-day alert + 12-month score → Renew / Renegotiate / Replace</a:t>
            </a:r>
            <a:endParaRPr b="0" lang="en-IN" sz="11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2b2e"/>
        </a:solidFill>
      </p:bgPr>
    </p:bg>
    <p:spTree>
      <p:nvGrpSpPr>
        <p:cNvPr id="1" name=""/>
        <p:cNvGrpSpPr/>
        <p:nvPr/>
      </p:nvGrpSpPr>
      <p:grpSpPr>
        <a:xfrm>
          <a:off x="0" y="0"/>
          <a:ext cx="0" cy="0"/>
          <a:chOff x="0" y="0"/>
          <a:chExt cx="0" cy="0"/>
        </a:xfrm>
      </p:grpSpPr>
      <p:sp>
        <p:nvSpPr>
          <p:cNvPr id="147" name="Shape 0"/>
          <p:cNvSpPr/>
          <p:nvPr/>
        </p:nvSpPr>
        <p:spPr>
          <a:xfrm>
            <a:off x="-457200" y="3200400"/>
            <a:ext cx="3200040" cy="3200040"/>
          </a:xfrm>
          <a:prstGeom prst="ellipse">
            <a:avLst/>
          </a:prstGeom>
          <a:solidFill>
            <a:srgbClr val="028090">
              <a:alpha val="18000"/>
            </a:srgbClr>
          </a:solidFill>
          <a:ln w="12700">
            <a:solidFill>
              <a:srgbClr val="028090">
                <a:alpha val="18000"/>
              </a:srgbClr>
            </a:solidFill>
            <a:round/>
          </a:ln>
        </p:spPr>
        <p:style>
          <a:lnRef idx="0"/>
          <a:fillRef idx="0"/>
          <a:effectRef idx="0"/>
          <a:fontRef idx="minor"/>
        </p:style>
      </p:sp>
      <p:sp>
        <p:nvSpPr>
          <p:cNvPr id="148" name="Text 1"/>
          <p:cNvSpPr/>
          <p:nvPr/>
        </p:nvSpPr>
        <p:spPr>
          <a:xfrm>
            <a:off x="457200" y="274320"/>
            <a:ext cx="822924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2c39a"/>
                </a:solidFill>
                <a:latin typeface="Calibri"/>
                <a:ea typeface="Calibri"/>
              </a:rPr>
              <a:t>AI CONTRACT INTELLIGENCE</a:t>
            </a:r>
            <a:endParaRPr b="0" lang="en-IN" sz="1000" spc="-1" strike="noStrike">
              <a:latin typeface="Arial"/>
            </a:endParaRPr>
          </a:p>
        </p:txBody>
      </p:sp>
      <p:sp>
        <p:nvSpPr>
          <p:cNvPr id="149" name="Text 2"/>
          <p:cNvSpPr/>
          <p:nvPr/>
        </p:nvSpPr>
        <p:spPr>
          <a:xfrm>
            <a:off x="457200" y="594360"/>
            <a:ext cx="822924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ffffff"/>
                </a:solidFill>
                <a:latin typeface="Cambria"/>
                <a:ea typeface="Cambria"/>
              </a:rPr>
              <a:t>RAG — Making Sense of Legal Language</a:t>
            </a:r>
            <a:endParaRPr b="0" lang="en-IN" sz="2600" spc="-1" strike="noStrike">
              <a:latin typeface="Arial"/>
            </a:endParaRPr>
          </a:p>
        </p:txBody>
      </p:sp>
      <p:sp>
        <p:nvSpPr>
          <p:cNvPr id="150" name="Shape 3"/>
          <p:cNvSpPr/>
          <p:nvPr/>
        </p:nvSpPr>
        <p:spPr>
          <a:xfrm>
            <a:off x="365760" y="1417320"/>
            <a:ext cx="3840120" cy="3200040"/>
          </a:xfrm>
          <a:prstGeom prst="roundRect">
            <a:avLst>
              <a:gd name="adj" fmla="val 2286"/>
            </a:avLst>
          </a:prstGeom>
          <a:solidFill>
            <a:srgbClr val="0a3a40"/>
          </a:solidFill>
          <a:ln w="19050">
            <a:solidFill>
              <a:srgbClr val="00a896"/>
            </a:solidFill>
            <a:round/>
          </a:ln>
        </p:spPr>
        <p:style>
          <a:lnRef idx="0"/>
          <a:fillRef idx="0"/>
          <a:effectRef idx="0"/>
          <a:fontRef idx="minor"/>
        </p:style>
      </p:sp>
      <p:sp>
        <p:nvSpPr>
          <p:cNvPr id="151" name="Text 4"/>
          <p:cNvSpPr/>
          <p:nvPr/>
        </p:nvSpPr>
        <p:spPr>
          <a:xfrm>
            <a:off x="548640" y="1536120"/>
            <a:ext cx="34743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50" spc="299" strike="noStrike">
                <a:solidFill>
                  <a:srgbClr val="02c39a"/>
                </a:solidFill>
                <a:latin typeface="Calibri"/>
                <a:ea typeface="Calibri"/>
              </a:rPr>
              <a:t>CONTRACT TEXT (RAW)</a:t>
            </a:r>
            <a:endParaRPr b="0" lang="en-IN" sz="850" spc="-1" strike="noStrike">
              <a:latin typeface="Arial"/>
            </a:endParaRPr>
          </a:p>
        </p:txBody>
      </p:sp>
      <p:sp>
        <p:nvSpPr>
          <p:cNvPr id="152" name="Text 5"/>
          <p:cNvSpPr/>
          <p:nvPr/>
        </p:nvSpPr>
        <p:spPr>
          <a:xfrm>
            <a:off x="548640" y="1874520"/>
            <a:ext cx="3474360" cy="2559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50" spc="-1" strike="noStrike">
                <a:solidFill>
                  <a:srgbClr val="aaaaaa"/>
                </a:solidFill>
                <a:latin typeface="Calibri"/>
                <a:ea typeface="Calibri"/>
              </a:rPr>
              <a:t>"The ground handling service provider shall ensure that all passenger baggage is delivered to the baggage reclaim belt within thirty (30) minutes of aircraft block-on time. Failure to meet this standard shall attract a penalty of USD 150 per occurrence..."</a:t>
            </a:r>
            <a:endParaRPr b="0" lang="en-IN" sz="1150" spc="-1" strike="noStrike">
              <a:latin typeface="Arial"/>
            </a:endParaRPr>
          </a:p>
        </p:txBody>
      </p:sp>
      <p:sp>
        <p:nvSpPr>
          <p:cNvPr id="153" name="Shape 6"/>
          <p:cNvSpPr/>
          <p:nvPr/>
        </p:nvSpPr>
        <p:spPr>
          <a:xfrm>
            <a:off x="4315680" y="3017520"/>
            <a:ext cx="502920" cy="360"/>
          </a:xfrm>
          <a:prstGeom prst="line">
            <a:avLst/>
          </a:prstGeom>
          <a:ln w="31750">
            <a:solidFill>
              <a:srgbClr val="f4a261"/>
            </a:solidFill>
            <a:round/>
          </a:ln>
        </p:spPr>
        <p:style>
          <a:lnRef idx="0"/>
          <a:fillRef idx="0"/>
          <a:effectRef idx="0"/>
          <a:fontRef idx="minor"/>
        </p:style>
      </p:sp>
      <p:sp>
        <p:nvSpPr>
          <p:cNvPr id="154" name="Text 7"/>
          <p:cNvSpPr/>
          <p:nvPr/>
        </p:nvSpPr>
        <p:spPr>
          <a:xfrm>
            <a:off x="4316040" y="2743200"/>
            <a:ext cx="50256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100" spc="-1" strike="noStrike">
                <a:solidFill>
                  <a:srgbClr val="f4a261"/>
                </a:solidFill>
                <a:latin typeface="Calibri"/>
                <a:ea typeface="Calibri"/>
              </a:rPr>
              <a:t>AI</a:t>
            </a:r>
            <a:endParaRPr b="0" lang="en-IN" sz="1100" spc="-1" strike="noStrike">
              <a:latin typeface="Arial"/>
            </a:endParaRPr>
          </a:p>
        </p:txBody>
      </p:sp>
      <p:sp>
        <p:nvSpPr>
          <p:cNvPr id="155" name="Shape 8"/>
          <p:cNvSpPr/>
          <p:nvPr/>
        </p:nvSpPr>
        <p:spPr>
          <a:xfrm>
            <a:off x="4892040" y="1417320"/>
            <a:ext cx="3885840" cy="3200040"/>
          </a:xfrm>
          <a:prstGeom prst="roundRect">
            <a:avLst>
              <a:gd name="adj" fmla="val 2286"/>
            </a:avLst>
          </a:prstGeom>
          <a:solidFill>
            <a:srgbClr val="0a2a0a"/>
          </a:solidFill>
          <a:ln w="19050">
            <a:solidFill>
              <a:srgbClr val="02c39a"/>
            </a:solidFill>
            <a:round/>
          </a:ln>
        </p:spPr>
        <p:style>
          <a:lnRef idx="0"/>
          <a:fillRef idx="0"/>
          <a:effectRef idx="0"/>
          <a:fontRef idx="minor"/>
        </p:style>
      </p:sp>
      <p:sp>
        <p:nvSpPr>
          <p:cNvPr id="156" name="Text 9"/>
          <p:cNvSpPr/>
          <p:nvPr/>
        </p:nvSpPr>
        <p:spPr>
          <a:xfrm>
            <a:off x="5074920" y="1536120"/>
            <a:ext cx="352008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50" spc="299" strike="noStrike">
                <a:solidFill>
                  <a:srgbClr val="02c39a"/>
                </a:solidFill>
                <a:latin typeface="Calibri"/>
                <a:ea typeface="Calibri"/>
              </a:rPr>
              <a:t>STRUCTURED OUTPUT (AUTO)</a:t>
            </a:r>
            <a:endParaRPr b="0" lang="en-IN" sz="850" spc="-1" strike="noStrike">
              <a:latin typeface="Arial"/>
            </a:endParaRPr>
          </a:p>
        </p:txBody>
      </p:sp>
      <p:sp>
        <p:nvSpPr>
          <p:cNvPr id="157" name="Text 10"/>
          <p:cNvSpPr/>
          <p:nvPr/>
        </p:nvSpPr>
        <p:spPr>
          <a:xfrm>
            <a:off x="5074920" y="1920240"/>
            <a:ext cx="191988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7ecfc8"/>
                </a:solidFill>
                <a:latin typeface="Courier New"/>
                <a:ea typeface="Courier New"/>
              </a:rPr>
              <a:t>"sla_metric":</a:t>
            </a:r>
            <a:endParaRPr b="0" lang="en-IN" sz="1150" spc="-1" strike="noStrike">
              <a:latin typeface="Arial"/>
            </a:endParaRPr>
          </a:p>
        </p:txBody>
      </p:sp>
      <p:sp>
        <p:nvSpPr>
          <p:cNvPr id="158" name="Text 11"/>
          <p:cNvSpPr/>
          <p:nvPr/>
        </p:nvSpPr>
        <p:spPr>
          <a:xfrm>
            <a:off x="6766560" y="192024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 strike="noStrike">
                <a:solidFill>
                  <a:srgbClr val="f4a261"/>
                </a:solidFill>
                <a:latin typeface="Courier New"/>
                <a:ea typeface="Courier New"/>
              </a:rPr>
              <a:t>"baggage delivery time"</a:t>
            </a:r>
            <a:endParaRPr b="0" lang="en-IN" sz="1150" spc="-1" strike="noStrike">
              <a:latin typeface="Arial"/>
            </a:endParaRPr>
          </a:p>
        </p:txBody>
      </p:sp>
      <p:sp>
        <p:nvSpPr>
          <p:cNvPr id="159" name="Text 12"/>
          <p:cNvSpPr/>
          <p:nvPr/>
        </p:nvSpPr>
        <p:spPr>
          <a:xfrm>
            <a:off x="5074920" y="2423160"/>
            <a:ext cx="191988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7ecfc8"/>
                </a:solidFill>
                <a:latin typeface="Courier New"/>
                <a:ea typeface="Courier New"/>
              </a:rPr>
              <a:t>"threshold":</a:t>
            </a:r>
            <a:endParaRPr b="0" lang="en-IN" sz="1150" spc="-1" strike="noStrike">
              <a:latin typeface="Arial"/>
            </a:endParaRPr>
          </a:p>
        </p:txBody>
      </p:sp>
      <p:sp>
        <p:nvSpPr>
          <p:cNvPr id="160" name="Text 13"/>
          <p:cNvSpPr/>
          <p:nvPr/>
        </p:nvSpPr>
        <p:spPr>
          <a:xfrm>
            <a:off x="6766560" y="242316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 strike="noStrike">
                <a:solidFill>
                  <a:srgbClr val="f4a261"/>
                </a:solidFill>
                <a:latin typeface="Courier New"/>
                <a:ea typeface="Courier New"/>
              </a:rPr>
              <a:t>"30 minutes"</a:t>
            </a:r>
            <a:endParaRPr b="0" lang="en-IN" sz="1150" spc="-1" strike="noStrike">
              <a:latin typeface="Arial"/>
            </a:endParaRPr>
          </a:p>
        </p:txBody>
      </p:sp>
      <p:sp>
        <p:nvSpPr>
          <p:cNvPr id="161" name="Text 14"/>
          <p:cNvSpPr/>
          <p:nvPr/>
        </p:nvSpPr>
        <p:spPr>
          <a:xfrm>
            <a:off x="5074920" y="2926080"/>
            <a:ext cx="191988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7ecfc8"/>
                </a:solidFill>
                <a:latin typeface="Courier New"/>
                <a:ea typeface="Courier New"/>
              </a:rPr>
              <a:t>"measurement_start":</a:t>
            </a:r>
            <a:endParaRPr b="0" lang="en-IN" sz="1150" spc="-1" strike="noStrike">
              <a:latin typeface="Arial"/>
            </a:endParaRPr>
          </a:p>
        </p:txBody>
      </p:sp>
      <p:sp>
        <p:nvSpPr>
          <p:cNvPr id="162" name="Text 15"/>
          <p:cNvSpPr/>
          <p:nvPr/>
        </p:nvSpPr>
        <p:spPr>
          <a:xfrm>
            <a:off x="6766560" y="292608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 strike="noStrike">
                <a:solidFill>
                  <a:srgbClr val="f4a261"/>
                </a:solidFill>
                <a:latin typeface="Courier New"/>
                <a:ea typeface="Courier New"/>
              </a:rPr>
              <a:t>"aircraft block-on time"</a:t>
            </a:r>
            <a:endParaRPr b="0" lang="en-IN" sz="1150" spc="-1" strike="noStrike">
              <a:latin typeface="Arial"/>
            </a:endParaRPr>
          </a:p>
        </p:txBody>
      </p:sp>
      <p:sp>
        <p:nvSpPr>
          <p:cNvPr id="163" name="Text 16"/>
          <p:cNvSpPr/>
          <p:nvPr/>
        </p:nvSpPr>
        <p:spPr>
          <a:xfrm>
            <a:off x="5074920" y="3429000"/>
            <a:ext cx="191988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7ecfc8"/>
                </a:solidFill>
                <a:latin typeface="Courier New"/>
                <a:ea typeface="Courier New"/>
              </a:rPr>
              <a:t>"penalty_per_breach":</a:t>
            </a:r>
            <a:endParaRPr b="0" lang="en-IN" sz="1150" spc="-1" strike="noStrike">
              <a:latin typeface="Arial"/>
            </a:endParaRPr>
          </a:p>
        </p:txBody>
      </p:sp>
      <p:sp>
        <p:nvSpPr>
          <p:cNvPr id="164" name="Text 17"/>
          <p:cNvSpPr/>
          <p:nvPr/>
        </p:nvSpPr>
        <p:spPr>
          <a:xfrm>
            <a:off x="6766560" y="342900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 strike="noStrike">
                <a:solidFill>
                  <a:srgbClr val="f4a261"/>
                </a:solidFill>
                <a:latin typeface="Courier New"/>
                <a:ea typeface="Courier New"/>
              </a:rPr>
              <a:t>"$150"</a:t>
            </a:r>
            <a:endParaRPr b="0" lang="en-IN" sz="1150" spc="-1" strike="noStrike">
              <a:latin typeface="Arial"/>
            </a:endParaRPr>
          </a:p>
        </p:txBody>
      </p:sp>
      <p:sp>
        <p:nvSpPr>
          <p:cNvPr id="165" name="Text 18"/>
          <p:cNvSpPr/>
          <p:nvPr/>
        </p:nvSpPr>
        <p:spPr>
          <a:xfrm>
            <a:off x="5074920" y="3931920"/>
            <a:ext cx="191988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50" spc="-1" strike="noStrike">
                <a:solidFill>
                  <a:srgbClr val="7ecfc8"/>
                </a:solidFill>
                <a:latin typeface="Courier New"/>
                <a:ea typeface="Courier New"/>
              </a:rPr>
              <a:t>"penalty_type":</a:t>
            </a:r>
            <a:endParaRPr b="0" lang="en-IN" sz="1150" spc="-1" strike="noStrike">
              <a:latin typeface="Arial"/>
            </a:endParaRPr>
          </a:p>
        </p:txBody>
      </p:sp>
      <p:sp>
        <p:nvSpPr>
          <p:cNvPr id="166" name="Text 19"/>
          <p:cNvSpPr/>
          <p:nvPr/>
        </p:nvSpPr>
        <p:spPr>
          <a:xfrm>
            <a:off x="6766560" y="393192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50" spc="-1" strike="noStrike">
                <a:solidFill>
                  <a:srgbClr val="f4a261"/>
                </a:solidFill>
                <a:latin typeface="Courier New"/>
                <a:ea typeface="Courier New"/>
              </a:rPr>
              <a:t>"per occurrence"</a:t>
            </a:r>
            <a:endParaRPr b="0" lang="en-IN" sz="1150" spc="-1" strike="noStrike">
              <a:latin typeface="Arial"/>
            </a:endParaRPr>
          </a:p>
        </p:txBody>
      </p:sp>
      <p:sp>
        <p:nvSpPr>
          <p:cNvPr id="167" name="Text 20"/>
          <p:cNvSpPr/>
          <p:nvPr/>
        </p:nvSpPr>
        <p:spPr>
          <a:xfrm>
            <a:off x="365760" y="4754880"/>
            <a:ext cx="841212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64748b"/>
                </a:solidFill>
                <a:latin typeface="Calibri"/>
                <a:ea typeface="Calibri"/>
              </a:rPr>
              <a:t>RAG understands meaning — 'thirty (30) minutes', 'half hour', '1800 seconds' all extract identically.</a:t>
            </a:r>
            <a:endParaRPr b="0" lang="en-IN" sz="11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afa"/>
        </a:solidFill>
      </p:bgPr>
    </p:bg>
    <p:spTree>
      <p:nvGrpSpPr>
        <p:cNvPr id="1" name=""/>
        <p:cNvGrpSpPr/>
        <p:nvPr/>
      </p:nvGrpSpPr>
      <p:grpSpPr>
        <a:xfrm>
          <a:off x="0" y="0"/>
          <a:ext cx="0" cy="0"/>
          <a:chOff x="0" y="0"/>
          <a:chExt cx="0" cy="0"/>
        </a:xfrm>
      </p:grpSpPr>
      <p:sp>
        <p:nvSpPr>
          <p:cNvPr id="168" name="Shape 0"/>
          <p:cNvSpPr/>
          <p:nvPr/>
        </p:nvSpPr>
        <p:spPr>
          <a:xfrm>
            <a:off x="0" y="0"/>
            <a:ext cx="9143640" cy="1005480"/>
          </a:xfrm>
          <a:prstGeom prst="rect">
            <a:avLst/>
          </a:prstGeom>
          <a:solidFill>
            <a:srgbClr val="028090"/>
          </a:solidFill>
          <a:ln w="12700">
            <a:solidFill>
              <a:srgbClr val="028090"/>
            </a:solidFill>
            <a:round/>
          </a:ln>
        </p:spPr>
        <p:style>
          <a:lnRef idx="0"/>
          <a:fillRef idx="0"/>
          <a:effectRef idx="0"/>
          <a:fontRef idx="minor"/>
        </p:style>
      </p:sp>
      <p:sp>
        <p:nvSpPr>
          <p:cNvPr id="169" name="Text 1"/>
          <p:cNvSpPr/>
          <p:nvPr/>
        </p:nvSpPr>
        <p:spPr>
          <a:xfrm>
            <a:off x="457200" y="0"/>
            <a:ext cx="822924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497" strike="noStrike">
                <a:solidFill>
                  <a:srgbClr val="02c39a"/>
                </a:solidFill>
                <a:latin typeface="Calibri"/>
                <a:ea typeface="Calibri"/>
              </a:rPr>
              <a:t>CORE MODULES</a:t>
            </a:r>
            <a:endParaRPr b="0" lang="en-IN" sz="1100" spc="-1" strike="noStrike">
              <a:latin typeface="Arial"/>
            </a:endParaRPr>
          </a:p>
        </p:txBody>
      </p:sp>
      <p:sp>
        <p:nvSpPr>
          <p:cNvPr id="170" name="Text 2"/>
          <p:cNvSpPr/>
          <p:nvPr/>
        </p:nvSpPr>
        <p:spPr>
          <a:xfrm>
            <a:off x="457200" y="0"/>
            <a:ext cx="8229240" cy="10054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200" spc="-1" strike="noStrike">
                <a:solidFill>
                  <a:srgbClr val="ffffff"/>
                </a:solidFill>
                <a:latin typeface="Cambria"/>
                <a:ea typeface="Cambria"/>
              </a:rPr>
              <a:t>8 Intelligent Modules — One Platform</a:t>
            </a:r>
            <a:endParaRPr b="0" lang="en-IN" sz="2200" spc="-1" strike="noStrike">
              <a:latin typeface="Arial"/>
            </a:endParaRPr>
          </a:p>
        </p:txBody>
      </p:sp>
      <p:sp>
        <p:nvSpPr>
          <p:cNvPr id="171" name="Shape 3"/>
          <p:cNvSpPr/>
          <p:nvPr/>
        </p:nvSpPr>
        <p:spPr>
          <a:xfrm>
            <a:off x="274320" y="1143000"/>
            <a:ext cx="2651400" cy="1599840"/>
          </a:xfrm>
          <a:prstGeom prst="roundRect">
            <a:avLst>
              <a:gd name="adj" fmla="val 457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172" name="Image 0" descr="preencoded.png"/>
          <p:cNvPicPr/>
          <p:nvPr/>
        </p:nvPicPr>
        <p:blipFill>
          <a:blip r:embed="rId1"/>
          <a:stretch/>
        </p:blipFill>
        <p:spPr>
          <a:xfrm>
            <a:off x="438840" y="1710000"/>
            <a:ext cx="383760" cy="383760"/>
          </a:xfrm>
          <a:prstGeom prst="rect">
            <a:avLst/>
          </a:prstGeom>
          <a:ln w="0">
            <a:noFill/>
          </a:ln>
        </p:spPr>
      </p:pic>
      <p:sp>
        <p:nvSpPr>
          <p:cNvPr id="173" name="Text 4"/>
          <p:cNvSpPr/>
          <p:nvPr/>
        </p:nvSpPr>
        <p:spPr>
          <a:xfrm>
            <a:off x="932760" y="127116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1a3a3a"/>
                </a:solidFill>
                <a:latin typeface="Cambria"/>
                <a:ea typeface="Cambria"/>
              </a:rPr>
              <a:t>Contract Vault</a:t>
            </a:r>
            <a:endParaRPr b="0" lang="en-IN" sz="1250" spc="-1" strike="noStrike">
              <a:latin typeface="Arial"/>
            </a:endParaRPr>
          </a:p>
        </p:txBody>
      </p:sp>
      <p:sp>
        <p:nvSpPr>
          <p:cNvPr id="174" name="Text 5"/>
          <p:cNvSpPr/>
          <p:nvPr/>
        </p:nvSpPr>
        <p:spPr>
          <a:xfrm>
            <a:off x="932760" y="1673280"/>
            <a:ext cx="1901520" cy="868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64748b"/>
                </a:solidFill>
                <a:latin typeface="Calibri"/>
                <a:ea typeface="Calibri"/>
              </a:rPr>
              <a:t>Upload PDFs. AI auto-extracts SLA terms, penalties, dates.</a:t>
            </a:r>
            <a:endParaRPr b="0" lang="en-IN" sz="1050" spc="-1" strike="noStrike">
              <a:latin typeface="Arial"/>
            </a:endParaRPr>
          </a:p>
        </p:txBody>
      </p:sp>
      <p:sp>
        <p:nvSpPr>
          <p:cNvPr id="175" name="Shape 6"/>
          <p:cNvSpPr/>
          <p:nvPr/>
        </p:nvSpPr>
        <p:spPr>
          <a:xfrm>
            <a:off x="3246120" y="1143000"/>
            <a:ext cx="2651400" cy="1599840"/>
          </a:xfrm>
          <a:prstGeom prst="roundRect">
            <a:avLst>
              <a:gd name="adj" fmla="val 457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176" name="Image 1" descr="preencoded.png"/>
          <p:cNvPicPr/>
          <p:nvPr/>
        </p:nvPicPr>
        <p:blipFill>
          <a:blip r:embed="rId2"/>
          <a:stretch/>
        </p:blipFill>
        <p:spPr>
          <a:xfrm>
            <a:off x="3410640" y="1710000"/>
            <a:ext cx="383760" cy="383760"/>
          </a:xfrm>
          <a:prstGeom prst="rect">
            <a:avLst/>
          </a:prstGeom>
          <a:ln w="0">
            <a:noFill/>
          </a:ln>
        </p:spPr>
      </p:pic>
      <p:sp>
        <p:nvSpPr>
          <p:cNvPr id="177" name="Text 7"/>
          <p:cNvSpPr/>
          <p:nvPr/>
        </p:nvSpPr>
        <p:spPr>
          <a:xfrm>
            <a:off x="3904560" y="127116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1a3a3a"/>
                </a:solidFill>
                <a:latin typeface="Cambria"/>
                <a:ea typeface="Cambria"/>
              </a:rPr>
              <a:t>SLA Dashboard</a:t>
            </a:r>
            <a:endParaRPr b="0" lang="en-IN" sz="1250" spc="-1" strike="noStrike">
              <a:latin typeface="Arial"/>
            </a:endParaRPr>
          </a:p>
        </p:txBody>
      </p:sp>
      <p:sp>
        <p:nvSpPr>
          <p:cNvPr id="178" name="Text 8"/>
          <p:cNvSpPr/>
          <p:nvPr/>
        </p:nvSpPr>
        <p:spPr>
          <a:xfrm>
            <a:off x="3904560" y="1673280"/>
            <a:ext cx="1901520" cy="868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64748b"/>
                </a:solidFill>
                <a:latin typeface="Calibri"/>
                <a:ea typeface="Calibri"/>
              </a:rPr>
              <a:t>Live compliance scores per vendor. Green / Yellow / Red.</a:t>
            </a:r>
            <a:endParaRPr b="0" lang="en-IN" sz="1050" spc="-1" strike="noStrike">
              <a:latin typeface="Arial"/>
            </a:endParaRPr>
          </a:p>
        </p:txBody>
      </p:sp>
      <p:sp>
        <p:nvSpPr>
          <p:cNvPr id="179" name="Shape 9"/>
          <p:cNvSpPr/>
          <p:nvPr/>
        </p:nvSpPr>
        <p:spPr>
          <a:xfrm>
            <a:off x="6217920" y="1143000"/>
            <a:ext cx="2651400" cy="1599840"/>
          </a:xfrm>
          <a:prstGeom prst="roundRect">
            <a:avLst>
              <a:gd name="adj" fmla="val 457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180" name="Image 2" descr="preencoded.png"/>
          <p:cNvPicPr/>
          <p:nvPr/>
        </p:nvPicPr>
        <p:blipFill>
          <a:blip r:embed="rId3"/>
          <a:stretch/>
        </p:blipFill>
        <p:spPr>
          <a:xfrm>
            <a:off x="6382440" y="1710000"/>
            <a:ext cx="383760" cy="383760"/>
          </a:xfrm>
          <a:prstGeom prst="rect">
            <a:avLst/>
          </a:prstGeom>
          <a:ln w="0">
            <a:noFill/>
          </a:ln>
        </p:spPr>
      </p:pic>
      <p:sp>
        <p:nvSpPr>
          <p:cNvPr id="181" name="Text 10"/>
          <p:cNvSpPr/>
          <p:nvPr/>
        </p:nvSpPr>
        <p:spPr>
          <a:xfrm>
            <a:off x="6876360" y="127116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1a3a3a"/>
                </a:solidFill>
                <a:latin typeface="Cambria"/>
                <a:ea typeface="Cambria"/>
              </a:rPr>
              <a:t>Breach Logger</a:t>
            </a:r>
            <a:endParaRPr b="0" lang="en-IN" sz="1250" spc="-1" strike="noStrike">
              <a:latin typeface="Arial"/>
            </a:endParaRPr>
          </a:p>
        </p:txBody>
      </p:sp>
      <p:sp>
        <p:nvSpPr>
          <p:cNvPr id="182" name="Text 11"/>
          <p:cNvSpPr/>
          <p:nvPr/>
        </p:nvSpPr>
        <p:spPr>
          <a:xfrm>
            <a:off x="6876360" y="1673280"/>
            <a:ext cx="1901520" cy="868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64748b"/>
                </a:solidFill>
                <a:latin typeface="Calibri"/>
                <a:ea typeface="Calibri"/>
              </a:rPr>
              <a:t>Auto-detects every SLA violation with flight-level evidence.</a:t>
            </a:r>
            <a:endParaRPr b="0" lang="en-IN" sz="1050" spc="-1" strike="noStrike">
              <a:latin typeface="Arial"/>
            </a:endParaRPr>
          </a:p>
        </p:txBody>
      </p:sp>
      <p:sp>
        <p:nvSpPr>
          <p:cNvPr id="183" name="Shape 12"/>
          <p:cNvSpPr/>
          <p:nvPr/>
        </p:nvSpPr>
        <p:spPr>
          <a:xfrm>
            <a:off x="274320" y="3017520"/>
            <a:ext cx="2651400" cy="1599840"/>
          </a:xfrm>
          <a:prstGeom prst="roundRect">
            <a:avLst>
              <a:gd name="adj" fmla="val 457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184" name="Image 3" descr="preencoded.png"/>
          <p:cNvPicPr/>
          <p:nvPr/>
        </p:nvPicPr>
        <p:blipFill>
          <a:blip r:embed="rId4"/>
          <a:stretch/>
        </p:blipFill>
        <p:spPr>
          <a:xfrm>
            <a:off x="438840" y="3584520"/>
            <a:ext cx="383760" cy="383760"/>
          </a:xfrm>
          <a:prstGeom prst="rect">
            <a:avLst/>
          </a:prstGeom>
          <a:ln w="0">
            <a:noFill/>
          </a:ln>
        </p:spPr>
      </p:pic>
      <p:sp>
        <p:nvSpPr>
          <p:cNvPr id="185" name="Text 13"/>
          <p:cNvSpPr/>
          <p:nvPr/>
        </p:nvSpPr>
        <p:spPr>
          <a:xfrm>
            <a:off x="932760" y="314568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1a3a3a"/>
                </a:solidFill>
                <a:latin typeface="Cambria"/>
                <a:ea typeface="Cambria"/>
              </a:rPr>
              <a:t>Penalty Engine</a:t>
            </a:r>
            <a:endParaRPr b="0" lang="en-IN" sz="1250" spc="-1" strike="noStrike">
              <a:latin typeface="Arial"/>
            </a:endParaRPr>
          </a:p>
        </p:txBody>
      </p:sp>
      <p:sp>
        <p:nvSpPr>
          <p:cNvPr id="186" name="Text 14"/>
          <p:cNvSpPr/>
          <p:nvPr/>
        </p:nvSpPr>
        <p:spPr>
          <a:xfrm>
            <a:off x="932760" y="3547800"/>
            <a:ext cx="1901520" cy="868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64748b"/>
                </a:solidFill>
                <a:latin typeface="Calibri"/>
                <a:ea typeface="Calibri"/>
              </a:rPr>
              <a:t>Reads penalty clause. Calculates fine. Generates PDF invoice.</a:t>
            </a:r>
            <a:endParaRPr b="0" lang="en-IN" sz="1050" spc="-1" strike="noStrike">
              <a:latin typeface="Arial"/>
            </a:endParaRPr>
          </a:p>
        </p:txBody>
      </p:sp>
      <p:sp>
        <p:nvSpPr>
          <p:cNvPr id="187" name="Shape 15"/>
          <p:cNvSpPr/>
          <p:nvPr/>
        </p:nvSpPr>
        <p:spPr>
          <a:xfrm>
            <a:off x="3246120" y="3017520"/>
            <a:ext cx="2651400" cy="1599840"/>
          </a:xfrm>
          <a:prstGeom prst="roundRect">
            <a:avLst>
              <a:gd name="adj" fmla="val 457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188" name="Image 4" descr="preencoded.png"/>
          <p:cNvPicPr/>
          <p:nvPr/>
        </p:nvPicPr>
        <p:blipFill>
          <a:blip r:embed="rId5"/>
          <a:stretch/>
        </p:blipFill>
        <p:spPr>
          <a:xfrm>
            <a:off x="3410640" y="3584520"/>
            <a:ext cx="383760" cy="383760"/>
          </a:xfrm>
          <a:prstGeom prst="rect">
            <a:avLst/>
          </a:prstGeom>
          <a:ln w="0">
            <a:noFill/>
          </a:ln>
        </p:spPr>
      </p:pic>
      <p:sp>
        <p:nvSpPr>
          <p:cNvPr id="189" name="Text 16"/>
          <p:cNvSpPr/>
          <p:nvPr/>
        </p:nvSpPr>
        <p:spPr>
          <a:xfrm>
            <a:off x="3904560" y="314568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1a3a3a"/>
                </a:solidFill>
                <a:latin typeface="Cambria"/>
                <a:ea typeface="Cambria"/>
              </a:rPr>
              <a:t>Renewal Tracker</a:t>
            </a:r>
            <a:endParaRPr b="0" lang="en-IN" sz="1250" spc="-1" strike="noStrike">
              <a:latin typeface="Arial"/>
            </a:endParaRPr>
          </a:p>
        </p:txBody>
      </p:sp>
      <p:sp>
        <p:nvSpPr>
          <p:cNvPr id="190" name="Text 17"/>
          <p:cNvSpPr/>
          <p:nvPr/>
        </p:nvSpPr>
        <p:spPr>
          <a:xfrm>
            <a:off x="3904560" y="3547800"/>
            <a:ext cx="1901520" cy="868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64748b"/>
                </a:solidFill>
                <a:latin typeface="Calibri"/>
                <a:ea typeface="Calibri"/>
              </a:rPr>
              <a:t>90-day alerts + performance-based renewal recommendation.</a:t>
            </a:r>
            <a:endParaRPr b="0" lang="en-IN" sz="1050" spc="-1" strike="noStrike">
              <a:latin typeface="Arial"/>
            </a:endParaRPr>
          </a:p>
        </p:txBody>
      </p:sp>
      <p:sp>
        <p:nvSpPr>
          <p:cNvPr id="191" name="Shape 18"/>
          <p:cNvSpPr/>
          <p:nvPr/>
        </p:nvSpPr>
        <p:spPr>
          <a:xfrm>
            <a:off x="6217920" y="3017520"/>
            <a:ext cx="2651400" cy="1599840"/>
          </a:xfrm>
          <a:prstGeom prst="roundRect">
            <a:avLst>
              <a:gd name="adj" fmla="val 4571"/>
            </a:avLst>
          </a:prstGeom>
          <a:solidFill>
            <a:srgbClr val="ffffff"/>
          </a:solidFill>
          <a:ln w="12700">
            <a:solidFill>
              <a:srgbClr val="d0e8e8"/>
            </a:solidFill>
            <a:round/>
          </a:ln>
          <a:effectLst>
            <a:outerShdw algn="bl" blurRad="101520" dir="2700000" dist="37674" kx="0" ky="0" rotWithShape="0" sx="100000" sy="100000">
              <a:srgbClr val="000000">
                <a:alpha val="10000"/>
              </a:srgbClr>
            </a:outerShdw>
          </a:effectLst>
        </p:spPr>
        <p:style>
          <a:lnRef idx="0"/>
          <a:fillRef idx="0"/>
          <a:effectRef idx="0"/>
          <a:fontRef idx="minor"/>
        </p:style>
      </p:sp>
      <p:pic>
        <p:nvPicPr>
          <p:cNvPr id="192" name="Image 5" descr="preencoded.png"/>
          <p:cNvPicPr/>
          <p:nvPr/>
        </p:nvPicPr>
        <p:blipFill>
          <a:blip r:embed="rId6"/>
          <a:stretch/>
        </p:blipFill>
        <p:spPr>
          <a:xfrm>
            <a:off x="6382440" y="3584520"/>
            <a:ext cx="383760" cy="383760"/>
          </a:xfrm>
          <a:prstGeom prst="rect">
            <a:avLst/>
          </a:prstGeom>
          <a:ln w="0">
            <a:noFill/>
          </a:ln>
        </p:spPr>
      </p:pic>
      <p:sp>
        <p:nvSpPr>
          <p:cNvPr id="193" name="Text 19"/>
          <p:cNvSpPr/>
          <p:nvPr/>
        </p:nvSpPr>
        <p:spPr>
          <a:xfrm>
            <a:off x="6876360" y="3145680"/>
            <a:ext cx="18741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1a3a3a"/>
                </a:solidFill>
                <a:latin typeface="Cambria"/>
                <a:ea typeface="Cambria"/>
              </a:rPr>
              <a:t>Analytics Dashboard</a:t>
            </a:r>
            <a:endParaRPr b="0" lang="en-IN" sz="1250" spc="-1" strike="noStrike">
              <a:latin typeface="Arial"/>
            </a:endParaRPr>
          </a:p>
        </p:txBody>
      </p:sp>
      <p:sp>
        <p:nvSpPr>
          <p:cNvPr id="194" name="Text 20"/>
          <p:cNvSpPr/>
          <p:nvPr/>
        </p:nvSpPr>
        <p:spPr>
          <a:xfrm>
            <a:off x="6876360" y="3547800"/>
            <a:ext cx="1901520" cy="868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64748b"/>
                </a:solidFill>
                <a:latin typeface="Calibri"/>
                <a:ea typeface="Calibri"/>
              </a:rPr>
              <a:t>12-month trends, worst performers, money recovered.</a:t>
            </a:r>
            <a:endParaRPr b="0" lang="en-IN" sz="105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afa"/>
        </a:solidFill>
      </p:bgPr>
    </p:bg>
    <p:spTree>
      <p:nvGrpSpPr>
        <p:cNvPr id="1" name=""/>
        <p:cNvGrpSpPr/>
        <p:nvPr/>
      </p:nvGrpSpPr>
      <p:grpSpPr>
        <a:xfrm>
          <a:off x="0" y="0"/>
          <a:ext cx="0" cy="0"/>
          <a:chOff x="0" y="0"/>
          <a:chExt cx="0" cy="0"/>
        </a:xfrm>
      </p:grpSpPr>
      <p:sp>
        <p:nvSpPr>
          <p:cNvPr id="195" name="Shape 0"/>
          <p:cNvSpPr/>
          <p:nvPr/>
        </p:nvSpPr>
        <p:spPr>
          <a:xfrm>
            <a:off x="0" y="0"/>
            <a:ext cx="9143640" cy="1005480"/>
          </a:xfrm>
          <a:prstGeom prst="rect">
            <a:avLst/>
          </a:prstGeom>
          <a:solidFill>
            <a:srgbClr val="028090"/>
          </a:solidFill>
          <a:ln w="12700">
            <a:solidFill>
              <a:srgbClr val="028090"/>
            </a:solidFill>
            <a:round/>
          </a:ln>
        </p:spPr>
        <p:style>
          <a:lnRef idx="0"/>
          <a:fillRef idx="0"/>
          <a:effectRef idx="0"/>
          <a:fontRef idx="minor"/>
        </p:style>
      </p:sp>
      <p:sp>
        <p:nvSpPr>
          <p:cNvPr id="196" name="Text 1"/>
          <p:cNvSpPr/>
          <p:nvPr/>
        </p:nvSpPr>
        <p:spPr>
          <a:xfrm>
            <a:off x="457200" y="-216000"/>
            <a:ext cx="822924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497" strike="noStrike">
                <a:solidFill>
                  <a:srgbClr val="02c39a"/>
                </a:solidFill>
                <a:latin typeface="Calibri"/>
                <a:ea typeface="Calibri"/>
              </a:rPr>
              <a:t>TECHNOLOGY STACK</a:t>
            </a:r>
            <a:endParaRPr b="0" lang="en-IN" sz="1100" spc="-1" strike="noStrike">
              <a:latin typeface="Arial"/>
            </a:endParaRPr>
          </a:p>
        </p:txBody>
      </p:sp>
      <p:sp>
        <p:nvSpPr>
          <p:cNvPr id="197" name="Text 2"/>
          <p:cNvSpPr/>
          <p:nvPr/>
        </p:nvSpPr>
        <p:spPr>
          <a:xfrm>
            <a:off x="457200" y="0"/>
            <a:ext cx="8229240" cy="10054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200" spc="-1" strike="noStrike">
                <a:solidFill>
                  <a:srgbClr val="ffffff"/>
                </a:solidFill>
                <a:latin typeface="Cambria"/>
                <a:ea typeface="Cambria"/>
              </a:rPr>
              <a:t>Modern, Secure, Production-Ready</a:t>
            </a:r>
            <a:endParaRPr b="0" lang="en-IN" sz="2200" spc="-1" strike="noStrike">
              <a:latin typeface="Arial"/>
            </a:endParaRPr>
          </a:p>
        </p:txBody>
      </p:sp>
      <p:sp>
        <p:nvSpPr>
          <p:cNvPr id="198" name="Shape 3"/>
          <p:cNvSpPr/>
          <p:nvPr/>
        </p:nvSpPr>
        <p:spPr>
          <a:xfrm>
            <a:off x="320040" y="1188720"/>
            <a:ext cx="8046360" cy="347040"/>
          </a:xfrm>
          <a:prstGeom prst="rect">
            <a:avLst/>
          </a:prstGeom>
          <a:solidFill>
            <a:srgbClr val="028090"/>
          </a:solidFill>
          <a:ln w="12700">
            <a:solidFill>
              <a:srgbClr val="028090"/>
            </a:solidFill>
            <a:round/>
          </a:ln>
        </p:spPr>
        <p:style>
          <a:lnRef idx="0"/>
          <a:fillRef idx="0"/>
          <a:effectRef idx="0"/>
          <a:fontRef idx="minor"/>
        </p:style>
      </p:sp>
      <p:sp>
        <p:nvSpPr>
          <p:cNvPr id="199" name="Text 4"/>
          <p:cNvSpPr/>
          <p:nvPr/>
        </p:nvSpPr>
        <p:spPr>
          <a:xfrm>
            <a:off x="411480" y="1188720"/>
            <a:ext cx="13712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ffffff"/>
                </a:solidFill>
                <a:latin typeface="Calibri"/>
                <a:ea typeface="Calibri"/>
              </a:rPr>
              <a:t>LAYER</a:t>
            </a:r>
            <a:endParaRPr b="0" lang="en-IN" sz="950" spc="-1" strike="noStrike">
              <a:latin typeface="Arial"/>
            </a:endParaRPr>
          </a:p>
        </p:txBody>
      </p:sp>
      <p:sp>
        <p:nvSpPr>
          <p:cNvPr id="200" name="Text 5"/>
          <p:cNvSpPr/>
          <p:nvPr/>
        </p:nvSpPr>
        <p:spPr>
          <a:xfrm>
            <a:off x="1783080" y="1188720"/>
            <a:ext cx="274284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ffffff"/>
                </a:solidFill>
                <a:latin typeface="Calibri"/>
                <a:ea typeface="Calibri"/>
              </a:rPr>
              <a:t>TECHNOLOGY</a:t>
            </a:r>
            <a:endParaRPr b="0" lang="en-IN" sz="950" spc="-1" strike="noStrike">
              <a:latin typeface="Arial"/>
            </a:endParaRPr>
          </a:p>
        </p:txBody>
      </p:sp>
      <p:sp>
        <p:nvSpPr>
          <p:cNvPr id="201" name="Text 6"/>
          <p:cNvSpPr/>
          <p:nvPr/>
        </p:nvSpPr>
        <p:spPr>
          <a:xfrm>
            <a:off x="4526280" y="1188720"/>
            <a:ext cx="374868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ffffff"/>
                </a:solidFill>
                <a:latin typeface="Calibri"/>
                <a:ea typeface="Calibri"/>
              </a:rPr>
              <a:t>WHY THIS CHOICE</a:t>
            </a:r>
            <a:endParaRPr b="0" lang="en-IN" sz="950" spc="-1" strike="noStrike">
              <a:latin typeface="Arial"/>
            </a:endParaRPr>
          </a:p>
        </p:txBody>
      </p:sp>
      <p:sp>
        <p:nvSpPr>
          <p:cNvPr id="202" name="Shape 7"/>
          <p:cNvSpPr/>
          <p:nvPr/>
        </p:nvSpPr>
        <p:spPr>
          <a:xfrm>
            <a:off x="320040" y="1536120"/>
            <a:ext cx="8046360" cy="594000"/>
          </a:xfrm>
          <a:prstGeom prst="rect">
            <a:avLst/>
          </a:prstGeom>
          <a:solidFill>
            <a:srgbClr val="ffffff"/>
          </a:solidFill>
          <a:ln w="6350">
            <a:solidFill>
              <a:srgbClr val="d0e8e8"/>
            </a:solidFill>
            <a:round/>
          </a:ln>
        </p:spPr>
        <p:style>
          <a:lnRef idx="0"/>
          <a:fillRef idx="0"/>
          <a:effectRef idx="0"/>
          <a:fontRef idx="minor"/>
        </p:style>
      </p:sp>
      <p:sp>
        <p:nvSpPr>
          <p:cNvPr id="203" name="Shape 8"/>
          <p:cNvSpPr/>
          <p:nvPr/>
        </p:nvSpPr>
        <p:spPr>
          <a:xfrm>
            <a:off x="411480" y="1664280"/>
            <a:ext cx="1188360" cy="310680"/>
          </a:xfrm>
          <a:prstGeom prst="roundRect">
            <a:avLst>
              <a:gd name="adj" fmla="val 11765"/>
            </a:avLst>
          </a:prstGeom>
          <a:solidFill>
            <a:srgbClr val="028090"/>
          </a:solidFill>
          <a:ln w="12700">
            <a:solidFill>
              <a:srgbClr val="028090"/>
            </a:solidFill>
            <a:round/>
          </a:ln>
        </p:spPr>
        <p:style>
          <a:lnRef idx="0"/>
          <a:fillRef idx="0"/>
          <a:effectRef idx="0"/>
          <a:fontRef idx="minor"/>
        </p:style>
      </p:sp>
      <p:sp>
        <p:nvSpPr>
          <p:cNvPr id="204" name="Text 9"/>
          <p:cNvSpPr/>
          <p:nvPr/>
        </p:nvSpPr>
        <p:spPr>
          <a:xfrm>
            <a:off x="411480" y="1664280"/>
            <a:ext cx="118836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Frontend</a:t>
            </a:r>
            <a:endParaRPr b="0" lang="en-IN" sz="900" spc="-1" strike="noStrike">
              <a:latin typeface="Arial"/>
            </a:endParaRPr>
          </a:p>
        </p:txBody>
      </p:sp>
      <p:sp>
        <p:nvSpPr>
          <p:cNvPr id="205" name="Text 10"/>
          <p:cNvSpPr/>
          <p:nvPr/>
        </p:nvSpPr>
        <p:spPr>
          <a:xfrm>
            <a:off x="1783080" y="1536120"/>
            <a:ext cx="27428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1a3a3a"/>
                </a:solidFill>
                <a:latin typeface="Calibri"/>
                <a:ea typeface="Calibri"/>
              </a:rPr>
              <a:t>React (Vite) + Recharts</a:t>
            </a:r>
            <a:endParaRPr b="0" lang="en-IN" sz="1200" spc="-1" strike="noStrike">
              <a:latin typeface="Arial"/>
            </a:endParaRPr>
          </a:p>
        </p:txBody>
      </p:sp>
      <p:sp>
        <p:nvSpPr>
          <p:cNvPr id="206" name="Text 11"/>
          <p:cNvSpPr/>
          <p:nvPr/>
        </p:nvSpPr>
        <p:spPr>
          <a:xfrm>
            <a:off x="4526280" y="1536120"/>
            <a:ext cx="37486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64748b"/>
                </a:solidFill>
                <a:latin typeface="Calibri"/>
                <a:ea typeface="Calibri"/>
              </a:rPr>
              <a:t>Component UI, real-time dashboards, SLA charts</a:t>
            </a:r>
            <a:endParaRPr b="0" lang="en-IN" sz="1100" spc="-1" strike="noStrike">
              <a:latin typeface="Arial"/>
            </a:endParaRPr>
          </a:p>
        </p:txBody>
      </p:sp>
      <p:sp>
        <p:nvSpPr>
          <p:cNvPr id="207" name="Shape 12"/>
          <p:cNvSpPr/>
          <p:nvPr/>
        </p:nvSpPr>
        <p:spPr>
          <a:xfrm>
            <a:off x="320040" y="2130480"/>
            <a:ext cx="8046360" cy="594000"/>
          </a:xfrm>
          <a:prstGeom prst="rect">
            <a:avLst/>
          </a:prstGeom>
          <a:solidFill>
            <a:srgbClr val="e8f4f4"/>
          </a:solidFill>
          <a:ln w="6350">
            <a:solidFill>
              <a:srgbClr val="d0e8e8"/>
            </a:solidFill>
            <a:round/>
          </a:ln>
        </p:spPr>
        <p:style>
          <a:lnRef idx="0"/>
          <a:fillRef idx="0"/>
          <a:effectRef idx="0"/>
          <a:fontRef idx="minor"/>
        </p:style>
      </p:sp>
      <p:sp>
        <p:nvSpPr>
          <p:cNvPr id="208" name="Shape 13"/>
          <p:cNvSpPr/>
          <p:nvPr/>
        </p:nvSpPr>
        <p:spPr>
          <a:xfrm>
            <a:off x="411480" y="2258640"/>
            <a:ext cx="1188360" cy="310680"/>
          </a:xfrm>
          <a:prstGeom prst="roundRect">
            <a:avLst>
              <a:gd name="adj" fmla="val 11765"/>
            </a:avLst>
          </a:prstGeom>
          <a:solidFill>
            <a:srgbClr val="00a896"/>
          </a:solidFill>
          <a:ln w="12700">
            <a:solidFill>
              <a:srgbClr val="00a896"/>
            </a:solidFill>
            <a:round/>
          </a:ln>
        </p:spPr>
        <p:style>
          <a:lnRef idx="0"/>
          <a:fillRef idx="0"/>
          <a:effectRef idx="0"/>
          <a:fontRef idx="minor"/>
        </p:style>
      </p:sp>
      <p:sp>
        <p:nvSpPr>
          <p:cNvPr id="209" name="Text 14"/>
          <p:cNvSpPr/>
          <p:nvPr/>
        </p:nvSpPr>
        <p:spPr>
          <a:xfrm>
            <a:off x="411480" y="2258640"/>
            <a:ext cx="118836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Backend</a:t>
            </a:r>
            <a:endParaRPr b="0" lang="en-IN" sz="900" spc="-1" strike="noStrike">
              <a:latin typeface="Arial"/>
            </a:endParaRPr>
          </a:p>
        </p:txBody>
      </p:sp>
      <p:sp>
        <p:nvSpPr>
          <p:cNvPr id="210" name="Text 15"/>
          <p:cNvSpPr/>
          <p:nvPr/>
        </p:nvSpPr>
        <p:spPr>
          <a:xfrm>
            <a:off x="1783080" y="2130480"/>
            <a:ext cx="27428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1a3a3a"/>
                </a:solidFill>
                <a:latin typeface="Calibri"/>
                <a:ea typeface="Calibri"/>
              </a:rPr>
              <a:t>FastAPI (Python)</a:t>
            </a:r>
            <a:endParaRPr b="0" lang="en-IN" sz="1200" spc="-1" strike="noStrike">
              <a:latin typeface="Arial"/>
            </a:endParaRPr>
          </a:p>
        </p:txBody>
      </p:sp>
      <p:sp>
        <p:nvSpPr>
          <p:cNvPr id="211" name="Text 16"/>
          <p:cNvSpPr/>
          <p:nvPr/>
        </p:nvSpPr>
        <p:spPr>
          <a:xfrm>
            <a:off x="4526280" y="2130480"/>
            <a:ext cx="37486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64748b"/>
                </a:solidFill>
                <a:latin typeface="Calibri"/>
                <a:ea typeface="Calibri"/>
              </a:rPr>
              <a:t>Async, auto API docs, handles RAG pipeline</a:t>
            </a:r>
            <a:endParaRPr b="0" lang="en-IN" sz="1100" spc="-1" strike="noStrike">
              <a:latin typeface="Arial"/>
            </a:endParaRPr>
          </a:p>
        </p:txBody>
      </p:sp>
      <p:sp>
        <p:nvSpPr>
          <p:cNvPr id="212" name="Shape 17"/>
          <p:cNvSpPr/>
          <p:nvPr/>
        </p:nvSpPr>
        <p:spPr>
          <a:xfrm>
            <a:off x="320040" y="2724840"/>
            <a:ext cx="8046360" cy="594000"/>
          </a:xfrm>
          <a:prstGeom prst="rect">
            <a:avLst/>
          </a:prstGeom>
          <a:solidFill>
            <a:srgbClr val="ffffff"/>
          </a:solidFill>
          <a:ln w="6350">
            <a:solidFill>
              <a:srgbClr val="d0e8e8"/>
            </a:solidFill>
            <a:round/>
          </a:ln>
        </p:spPr>
        <p:style>
          <a:lnRef idx="0"/>
          <a:fillRef idx="0"/>
          <a:effectRef idx="0"/>
          <a:fontRef idx="minor"/>
        </p:style>
      </p:sp>
      <p:sp>
        <p:nvSpPr>
          <p:cNvPr id="213" name="Shape 18"/>
          <p:cNvSpPr/>
          <p:nvPr/>
        </p:nvSpPr>
        <p:spPr>
          <a:xfrm>
            <a:off x="411480" y="2853000"/>
            <a:ext cx="1188360" cy="310680"/>
          </a:xfrm>
          <a:prstGeom prst="roundRect">
            <a:avLst>
              <a:gd name="adj" fmla="val 11765"/>
            </a:avLst>
          </a:prstGeom>
          <a:solidFill>
            <a:srgbClr val="02c39a"/>
          </a:solidFill>
          <a:ln w="12700">
            <a:solidFill>
              <a:srgbClr val="02c39a"/>
            </a:solidFill>
            <a:round/>
          </a:ln>
        </p:spPr>
        <p:style>
          <a:lnRef idx="0"/>
          <a:fillRef idx="0"/>
          <a:effectRef idx="0"/>
          <a:fontRef idx="minor"/>
        </p:style>
      </p:sp>
      <p:sp>
        <p:nvSpPr>
          <p:cNvPr id="214" name="Text 19"/>
          <p:cNvSpPr/>
          <p:nvPr/>
        </p:nvSpPr>
        <p:spPr>
          <a:xfrm>
            <a:off x="411480" y="2853000"/>
            <a:ext cx="118836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Database</a:t>
            </a:r>
            <a:endParaRPr b="0" lang="en-IN" sz="900" spc="-1" strike="noStrike">
              <a:latin typeface="Arial"/>
            </a:endParaRPr>
          </a:p>
        </p:txBody>
      </p:sp>
      <p:sp>
        <p:nvSpPr>
          <p:cNvPr id="215" name="Text 20"/>
          <p:cNvSpPr/>
          <p:nvPr/>
        </p:nvSpPr>
        <p:spPr>
          <a:xfrm>
            <a:off x="1783080" y="2724840"/>
            <a:ext cx="27428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1a3a3a"/>
                </a:solidFill>
                <a:latin typeface="Calibri"/>
                <a:ea typeface="Calibri"/>
              </a:rPr>
              <a:t>PostgreSQL</a:t>
            </a:r>
            <a:endParaRPr b="0" lang="en-IN" sz="1200" spc="-1" strike="noStrike">
              <a:latin typeface="Arial"/>
            </a:endParaRPr>
          </a:p>
        </p:txBody>
      </p:sp>
      <p:sp>
        <p:nvSpPr>
          <p:cNvPr id="216" name="Text 21"/>
          <p:cNvSpPr/>
          <p:nvPr/>
        </p:nvSpPr>
        <p:spPr>
          <a:xfrm>
            <a:off x="4526280" y="2724840"/>
            <a:ext cx="37486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64748b"/>
                </a:solidFill>
                <a:latin typeface="Calibri"/>
                <a:ea typeface="Calibri"/>
              </a:rPr>
              <a:t>Relational: vendors, contracts, breaches linked</a:t>
            </a:r>
            <a:endParaRPr b="0" lang="en-IN" sz="1100" spc="-1" strike="noStrike">
              <a:latin typeface="Arial"/>
            </a:endParaRPr>
          </a:p>
        </p:txBody>
      </p:sp>
      <p:sp>
        <p:nvSpPr>
          <p:cNvPr id="217" name="Shape 22"/>
          <p:cNvSpPr/>
          <p:nvPr/>
        </p:nvSpPr>
        <p:spPr>
          <a:xfrm>
            <a:off x="320040" y="3319200"/>
            <a:ext cx="8046360" cy="594000"/>
          </a:xfrm>
          <a:prstGeom prst="rect">
            <a:avLst/>
          </a:prstGeom>
          <a:solidFill>
            <a:srgbClr val="e8f4f4"/>
          </a:solidFill>
          <a:ln w="6350">
            <a:solidFill>
              <a:srgbClr val="d0e8e8"/>
            </a:solidFill>
            <a:round/>
          </a:ln>
        </p:spPr>
        <p:style>
          <a:lnRef idx="0"/>
          <a:fillRef idx="0"/>
          <a:effectRef idx="0"/>
          <a:fontRef idx="minor"/>
        </p:style>
      </p:sp>
      <p:sp>
        <p:nvSpPr>
          <p:cNvPr id="218" name="Shape 23"/>
          <p:cNvSpPr/>
          <p:nvPr/>
        </p:nvSpPr>
        <p:spPr>
          <a:xfrm>
            <a:off x="411480" y="3447360"/>
            <a:ext cx="1188360" cy="310680"/>
          </a:xfrm>
          <a:prstGeom prst="roundRect">
            <a:avLst>
              <a:gd name="adj" fmla="val 11765"/>
            </a:avLst>
          </a:prstGeom>
          <a:solidFill>
            <a:srgbClr val="e76f51"/>
          </a:solidFill>
          <a:ln w="12700">
            <a:solidFill>
              <a:srgbClr val="e76f51"/>
            </a:solidFill>
            <a:round/>
          </a:ln>
        </p:spPr>
        <p:style>
          <a:lnRef idx="0"/>
          <a:fillRef idx="0"/>
          <a:effectRef idx="0"/>
          <a:fontRef idx="minor"/>
        </p:style>
      </p:sp>
      <p:sp>
        <p:nvSpPr>
          <p:cNvPr id="219" name="Text 24"/>
          <p:cNvSpPr/>
          <p:nvPr/>
        </p:nvSpPr>
        <p:spPr>
          <a:xfrm>
            <a:off x="411480" y="3447360"/>
            <a:ext cx="118836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AI / RAG</a:t>
            </a:r>
            <a:endParaRPr b="0" lang="en-IN" sz="900" spc="-1" strike="noStrike">
              <a:latin typeface="Arial"/>
            </a:endParaRPr>
          </a:p>
        </p:txBody>
      </p:sp>
      <p:sp>
        <p:nvSpPr>
          <p:cNvPr id="220" name="Text 25"/>
          <p:cNvSpPr/>
          <p:nvPr/>
        </p:nvSpPr>
        <p:spPr>
          <a:xfrm>
            <a:off x="1783080" y="3319200"/>
            <a:ext cx="27428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1a3a3a"/>
                </a:solidFill>
                <a:latin typeface="Calibri"/>
                <a:ea typeface="Calibri"/>
              </a:rPr>
              <a:t>LangChain + FAISS + Groq</a:t>
            </a:r>
            <a:endParaRPr b="0" lang="en-IN" sz="1200" spc="-1" strike="noStrike">
              <a:latin typeface="Arial"/>
            </a:endParaRPr>
          </a:p>
        </p:txBody>
      </p:sp>
      <p:sp>
        <p:nvSpPr>
          <p:cNvPr id="221" name="Text 26"/>
          <p:cNvSpPr/>
          <p:nvPr/>
        </p:nvSpPr>
        <p:spPr>
          <a:xfrm>
            <a:off x="4526280" y="3319200"/>
            <a:ext cx="37486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64748b"/>
                </a:solidFill>
                <a:latin typeface="Calibri"/>
                <a:ea typeface="Calibri"/>
              </a:rPr>
              <a:t>Contract reading, SLA extraction, intelligent parsing</a:t>
            </a:r>
            <a:endParaRPr b="0" lang="en-IN" sz="1100" spc="-1" strike="noStrike">
              <a:latin typeface="Arial"/>
            </a:endParaRPr>
          </a:p>
        </p:txBody>
      </p:sp>
      <p:sp>
        <p:nvSpPr>
          <p:cNvPr id="222" name="Shape 27"/>
          <p:cNvSpPr/>
          <p:nvPr/>
        </p:nvSpPr>
        <p:spPr>
          <a:xfrm>
            <a:off x="320040" y="3913560"/>
            <a:ext cx="8046360" cy="594000"/>
          </a:xfrm>
          <a:prstGeom prst="rect">
            <a:avLst/>
          </a:prstGeom>
          <a:solidFill>
            <a:srgbClr val="ffffff"/>
          </a:solidFill>
          <a:ln w="6350">
            <a:solidFill>
              <a:srgbClr val="d0e8e8"/>
            </a:solidFill>
            <a:round/>
          </a:ln>
        </p:spPr>
        <p:style>
          <a:lnRef idx="0"/>
          <a:fillRef idx="0"/>
          <a:effectRef idx="0"/>
          <a:fontRef idx="minor"/>
        </p:style>
      </p:sp>
      <p:sp>
        <p:nvSpPr>
          <p:cNvPr id="223" name="Shape 28"/>
          <p:cNvSpPr/>
          <p:nvPr/>
        </p:nvSpPr>
        <p:spPr>
          <a:xfrm>
            <a:off x="411480" y="4041720"/>
            <a:ext cx="1188360" cy="310680"/>
          </a:xfrm>
          <a:prstGeom prst="roundRect">
            <a:avLst>
              <a:gd name="adj" fmla="val 11765"/>
            </a:avLst>
          </a:prstGeom>
          <a:solidFill>
            <a:srgbClr val="f4a261"/>
          </a:solidFill>
          <a:ln w="12700">
            <a:solidFill>
              <a:srgbClr val="f4a261"/>
            </a:solidFill>
            <a:round/>
          </a:ln>
        </p:spPr>
        <p:style>
          <a:lnRef idx="0"/>
          <a:fillRef idx="0"/>
          <a:effectRef idx="0"/>
          <a:fontRef idx="minor"/>
        </p:style>
      </p:sp>
      <p:sp>
        <p:nvSpPr>
          <p:cNvPr id="224" name="Text 29"/>
          <p:cNvSpPr/>
          <p:nvPr/>
        </p:nvSpPr>
        <p:spPr>
          <a:xfrm>
            <a:off x="411480" y="4041720"/>
            <a:ext cx="118836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PDF Processing</a:t>
            </a:r>
            <a:endParaRPr b="0" lang="en-IN" sz="900" spc="-1" strike="noStrike">
              <a:latin typeface="Arial"/>
            </a:endParaRPr>
          </a:p>
        </p:txBody>
      </p:sp>
      <p:sp>
        <p:nvSpPr>
          <p:cNvPr id="225" name="Text 30"/>
          <p:cNvSpPr/>
          <p:nvPr/>
        </p:nvSpPr>
        <p:spPr>
          <a:xfrm>
            <a:off x="1783080" y="3913560"/>
            <a:ext cx="27428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1a3a3a"/>
                </a:solidFill>
                <a:latin typeface="Calibri"/>
                <a:ea typeface="Calibri"/>
              </a:rPr>
              <a:t>pdfplumber + ReportLab</a:t>
            </a:r>
            <a:endParaRPr b="0" lang="en-IN" sz="1200" spc="-1" strike="noStrike">
              <a:latin typeface="Arial"/>
            </a:endParaRPr>
          </a:p>
        </p:txBody>
      </p:sp>
      <p:sp>
        <p:nvSpPr>
          <p:cNvPr id="226" name="Text 31"/>
          <p:cNvSpPr/>
          <p:nvPr/>
        </p:nvSpPr>
        <p:spPr>
          <a:xfrm>
            <a:off x="4526280" y="3913560"/>
            <a:ext cx="37486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64748b"/>
                </a:solidFill>
                <a:latin typeface="Calibri"/>
                <a:ea typeface="Calibri"/>
              </a:rPr>
              <a:t>Extract contract text, generate penalty invoices</a:t>
            </a:r>
            <a:endParaRPr b="0" lang="en-IN" sz="1100" spc="-1" strike="noStrike">
              <a:latin typeface="Arial"/>
            </a:endParaRPr>
          </a:p>
        </p:txBody>
      </p:sp>
      <p:sp>
        <p:nvSpPr>
          <p:cNvPr id="227" name="Shape 32"/>
          <p:cNvSpPr/>
          <p:nvPr/>
        </p:nvSpPr>
        <p:spPr>
          <a:xfrm>
            <a:off x="320040" y="4507920"/>
            <a:ext cx="8046360" cy="594000"/>
          </a:xfrm>
          <a:prstGeom prst="rect">
            <a:avLst/>
          </a:prstGeom>
          <a:solidFill>
            <a:srgbClr val="e8f4f4"/>
          </a:solidFill>
          <a:ln w="6350">
            <a:solidFill>
              <a:srgbClr val="d0e8e8"/>
            </a:solidFill>
            <a:round/>
          </a:ln>
        </p:spPr>
        <p:style>
          <a:lnRef idx="0"/>
          <a:fillRef idx="0"/>
          <a:effectRef idx="0"/>
          <a:fontRef idx="minor"/>
        </p:style>
      </p:sp>
      <p:sp>
        <p:nvSpPr>
          <p:cNvPr id="228" name="Shape 33"/>
          <p:cNvSpPr/>
          <p:nvPr/>
        </p:nvSpPr>
        <p:spPr>
          <a:xfrm>
            <a:off x="411480" y="4636080"/>
            <a:ext cx="1188360" cy="310680"/>
          </a:xfrm>
          <a:prstGeom prst="roundRect">
            <a:avLst>
              <a:gd name="adj" fmla="val 11765"/>
            </a:avLst>
          </a:prstGeom>
          <a:solidFill>
            <a:srgbClr val="028090"/>
          </a:solidFill>
          <a:ln w="12700">
            <a:solidFill>
              <a:srgbClr val="028090"/>
            </a:solidFill>
            <a:round/>
          </a:ln>
        </p:spPr>
        <p:style>
          <a:lnRef idx="0"/>
          <a:fillRef idx="0"/>
          <a:effectRef idx="0"/>
          <a:fontRef idx="minor"/>
        </p:style>
      </p:sp>
      <p:sp>
        <p:nvSpPr>
          <p:cNvPr id="229" name="Text 34"/>
          <p:cNvSpPr/>
          <p:nvPr/>
        </p:nvSpPr>
        <p:spPr>
          <a:xfrm>
            <a:off x="411480" y="4636080"/>
            <a:ext cx="1188360" cy="310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Auth</a:t>
            </a:r>
            <a:endParaRPr b="0" lang="en-IN" sz="900" spc="-1" strike="noStrike">
              <a:latin typeface="Arial"/>
            </a:endParaRPr>
          </a:p>
        </p:txBody>
      </p:sp>
      <p:sp>
        <p:nvSpPr>
          <p:cNvPr id="230" name="Text 35"/>
          <p:cNvSpPr/>
          <p:nvPr/>
        </p:nvSpPr>
        <p:spPr>
          <a:xfrm>
            <a:off x="1783080" y="4507920"/>
            <a:ext cx="27428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1a3a3a"/>
                </a:solidFill>
                <a:latin typeface="Calibri"/>
                <a:ea typeface="Calibri"/>
              </a:rPr>
              <a:t>JWT Tokens (RBAC)</a:t>
            </a:r>
            <a:endParaRPr b="0" lang="en-IN" sz="1200" spc="-1" strike="noStrike">
              <a:latin typeface="Arial"/>
            </a:endParaRPr>
          </a:p>
        </p:txBody>
      </p:sp>
      <p:sp>
        <p:nvSpPr>
          <p:cNvPr id="231" name="Text 36"/>
          <p:cNvSpPr/>
          <p:nvPr/>
        </p:nvSpPr>
        <p:spPr>
          <a:xfrm>
            <a:off x="4526280" y="4507920"/>
            <a:ext cx="37486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64748b"/>
                </a:solidFill>
                <a:latin typeface="Calibri"/>
                <a:ea typeface="Calibri"/>
              </a:rPr>
              <a:t>Manager, Vendor, Admin see only their own data</a:t>
            </a:r>
            <a:endParaRPr b="0" lang="en-IN" sz="11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2b2e"/>
        </a:solidFill>
      </p:bgPr>
    </p:bg>
    <p:spTree>
      <p:nvGrpSpPr>
        <p:cNvPr id="1" name=""/>
        <p:cNvGrpSpPr/>
        <p:nvPr/>
      </p:nvGrpSpPr>
      <p:grpSpPr>
        <a:xfrm>
          <a:off x="0" y="0"/>
          <a:ext cx="0" cy="0"/>
          <a:chOff x="0" y="0"/>
          <a:chExt cx="0" cy="0"/>
        </a:xfrm>
      </p:grpSpPr>
      <p:sp>
        <p:nvSpPr>
          <p:cNvPr id="232" name="Shape 0"/>
          <p:cNvSpPr/>
          <p:nvPr/>
        </p:nvSpPr>
        <p:spPr>
          <a:xfrm>
            <a:off x="6400800" y="-914400"/>
            <a:ext cx="4571640" cy="4571640"/>
          </a:xfrm>
          <a:prstGeom prst="ellipse">
            <a:avLst/>
          </a:prstGeom>
          <a:solidFill>
            <a:srgbClr val="f4a261">
              <a:alpha val="15000"/>
            </a:srgbClr>
          </a:solidFill>
          <a:ln w="12700">
            <a:solidFill>
              <a:srgbClr val="f4a261">
                <a:alpha val="15000"/>
              </a:srgbClr>
            </a:solidFill>
            <a:round/>
          </a:ln>
        </p:spPr>
        <p:style>
          <a:lnRef idx="0"/>
          <a:fillRef idx="0"/>
          <a:effectRef idx="0"/>
          <a:fontRef idx="minor"/>
        </p:style>
      </p:sp>
      <p:sp>
        <p:nvSpPr>
          <p:cNvPr id="233" name="Text 1"/>
          <p:cNvSpPr/>
          <p:nvPr/>
        </p:nvSpPr>
        <p:spPr>
          <a:xfrm>
            <a:off x="457200" y="274320"/>
            <a:ext cx="822924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f4a261"/>
                </a:solidFill>
                <a:latin typeface="Calibri"/>
                <a:ea typeface="Calibri"/>
              </a:rPr>
              <a:t>BUSINESS VALUE</a:t>
            </a:r>
            <a:endParaRPr b="0" lang="en-IN" sz="1000" spc="-1" strike="noStrike">
              <a:latin typeface="Arial"/>
            </a:endParaRPr>
          </a:p>
        </p:txBody>
      </p:sp>
      <p:sp>
        <p:nvSpPr>
          <p:cNvPr id="234" name="Text 2"/>
          <p:cNvSpPr/>
          <p:nvPr/>
        </p:nvSpPr>
        <p:spPr>
          <a:xfrm>
            <a:off x="457200" y="594360"/>
            <a:ext cx="822924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600" spc="-1" strike="noStrike">
                <a:solidFill>
                  <a:srgbClr val="ffffff"/>
                </a:solidFill>
                <a:latin typeface="Cambria"/>
                <a:ea typeface="Cambria"/>
              </a:rPr>
              <a:t>The Strongest ROI Case in Aviation Tech</a:t>
            </a:r>
            <a:endParaRPr b="0" lang="en-IN" sz="2600" spc="-1" strike="noStrike">
              <a:latin typeface="Arial"/>
            </a:endParaRPr>
          </a:p>
        </p:txBody>
      </p:sp>
      <p:sp>
        <p:nvSpPr>
          <p:cNvPr id="235" name="Shape 3"/>
          <p:cNvSpPr/>
          <p:nvPr/>
        </p:nvSpPr>
        <p:spPr>
          <a:xfrm>
            <a:off x="365760" y="1417320"/>
            <a:ext cx="3200040" cy="3382920"/>
          </a:xfrm>
          <a:prstGeom prst="roundRect">
            <a:avLst>
              <a:gd name="adj" fmla="val 2857"/>
            </a:avLst>
          </a:prstGeom>
          <a:solidFill>
            <a:srgbClr val="0a2a0a"/>
          </a:solidFill>
          <a:ln w="19050">
            <a:solidFill>
              <a:srgbClr val="02c39a"/>
            </a:solidFill>
            <a:round/>
          </a:ln>
        </p:spPr>
        <p:style>
          <a:lnRef idx="0"/>
          <a:fillRef idx="0"/>
          <a:effectRef idx="0"/>
          <a:fontRef idx="minor"/>
        </p:style>
      </p:sp>
      <p:sp>
        <p:nvSpPr>
          <p:cNvPr id="236" name="Text 4"/>
          <p:cNvSpPr/>
          <p:nvPr/>
        </p:nvSpPr>
        <p:spPr>
          <a:xfrm>
            <a:off x="502920" y="1554480"/>
            <a:ext cx="292572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300" spc="-1" strike="noStrike">
                <a:solidFill>
                  <a:srgbClr val="64748b"/>
                </a:solidFill>
                <a:latin typeface="Calibri"/>
                <a:ea typeface="Calibri"/>
              </a:rPr>
              <a:t>What You Say</a:t>
            </a:r>
            <a:endParaRPr b="0" lang="en-IN" sz="1300" spc="-1" strike="noStrike">
              <a:latin typeface="Arial"/>
            </a:endParaRPr>
          </a:p>
          <a:p>
            <a:pPr>
              <a:lnSpc>
                <a:spcPct val="100000"/>
              </a:lnSpc>
              <a:buNone/>
              <a:tabLst>
                <a:tab algn="l" pos="0"/>
              </a:tabLst>
            </a:pPr>
            <a:r>
              <a:rPr b="0" lang="en-US" sz="1300" spc="-1" strike="noStrike">
                <a:solidFill>
                  <a:srgbClr val="64748b"/>
                </a:solidFill>
                <a:latin typeface="Calibri"/>
                <a:ea typeface="Calibri"/>
              </a:rPr>
              <a:t>to the CEO:</a:t>
            </a:r>
            <a:endParaRPr b="0" lang="en-IN" sz="1300" spc="-1" strike="noStrike">
              <a:latin typeface="Arial"/>
            </a:endParaRPr>
          </a:p>
        </p:txBody>
      </p:sp>
      <p:sp>
        <p:nvSpPr>
          <p:cNvPr id="237" name="Text 5"/>
          <p:cNvSpPr/>
          <p:nvPr/>
        </p:nvSpPr>
        <p:spPr>
          <a:xfrm>
            <a:off x="502920" y="2240280"/>
            <a:ext cx="2925720" cy="23313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900" spc="-1" strike="noStrike">
                <a:solidFill>
                  <a:srgbClr val="ffffff"/>
                </a:solidFill>
                <a:latin typeface="Cambria"/>
                <a:ea typeface="Cambria"/>
              </a:rPr>
              <a:t>"This recovered</a:t>
            </a:r>
            <a:endParaRPr b="0" lang="en-IN" sz="1900" spc="-1" strike="noStrike">
              <a:latin typeface="Arial"/>
            </a:endParaRPr>
          </a:p>
          <a:p>
            <a:pPr>
              <a:lnSpc>
                <a:spcPct val="100000"/>
              </a:lnSpc>
              <a:buNone/>
              <a:tabLst>
                <a:tab algn="l" pos="0"/>
              </a:tabLst>
            </a:pPr>
            <a:r>
              <a:rPr b="1" i="1" lang="en-US" sz="1900" spc="-1" strike="noStrike">
                <a:solidFill>
                  <a:srgbClr val="ffffff"/>
                </a:solidFill>
                <a:latin typeface="Cambria"/>
                <a:ea typeface="Cambria"/>
              </a:rPr>
              <a:t>$24,500 in</a:t>
            </a:r>
            <a:endParaRPr b="0" lang="en-IN" sz="1900" spc="-1" strike="noStrike">
              <a:latin typeface="Arial"/>
            </a:endParaRPr>
          </a:p>
          <a:p>
            <a:pPr>
              <a:lnSpc>
                <a:spcPct val="100000"/>
              </a:lnSpc>
              <a:buNone/>
              <a:tabLst>
                <a:tab algn="l" pos="0"/>
              </a:tabLst>
            </a:pPr>
            <a:r>
              <a:rPr b="1" i="1" lang="en-US" sz="1900" spc="-1" strike="noStrike">
                <a:solidFill>
                  <a:srgbClr val="ffffff"/>
                </a:solidFill>
                <a:latin typeface="Cambria"/>
                <a:ea typeface="Cambria"/>
              </a:rPr>
              <a:t>unpaid penalties</a:t>
            </a:r>
            <a:endParaRPr b="0" lang="en-IN" sz="1900" spc="-1" strike="noStrike">
              <a:latin typeface="Arial"/>
            </a:endParaRPr>
          </a:p>
          <a:p>
            <a:pPr>
              <a:lnSpc>
                <a:spcPct val="100000"/>
              </a:lnSpc>
              <a:buNone/>
              <a:tabLst>
                <a:tab algn="l" pos="0"/>
              </a:tabLst>
            </a:pPr>
            <a:r>
              <a:rPr b="1" i="1" lang="en-US" sz="1900" spc="-1" strike="noStrike">
                <a:solidFill>
                  <a:srgbClr val="ffffff"/>
                </a:solidFill>
                <a:latin typeface="Cambria"/>
                <a:ea typeface="Cambria"/>
              </a:rPr>
              <a:t>last month."</a:t>
            </a:r>
            <a:endParaRPr b="0" lang="en-IN" sz="1900" spc="-1" strike="noStrike">
              <a:latin typeface="Arial"/>
            </a:endParaRPr>
          </a:p>
        </p:txBody>
      </p:sp>
      <p:sp>
        <p:nvSpPr>
          <p:cNvPr id="238" name="Shape 6"/>
          <p:cNvSpPr/>
          <p:nvPr/>
        </p:nvSpPr>
        <p:spPr>
          <a:xfrm>
            <a:off x="3657600" y="1417320"/>
            <a:ext cx="5028840" cy="383760"/>
          </a:xfrm>
          <a:prstGeom prst="rect">
            <a:avLst/>
          </a:prstGeom>
          <a:solidFill>
            <a:srgbClr val="028090"/>
          </a:solidFill>
          <a:ln w="12700">
            <a:solidFill>
              <a:srgbClr val="028090"/>
            </a:solidFill>
            <a:round/>
          </a:ln>
        </p:spPr>
        <p:style>
          <a:lnRef idx="0"/>
          <a:fillRef idx="0"/>
          <a:effectRef idx="0"/>
          <a:fontRef idx="minor"/>
        </p:style>
      </p:sp>
      <p:sp>
        <p:nvSpPr>
          <p:cNvPr id="239" name="Text 7"/>
          <p:cNvSpPr/>
          <p:nvPr/>
        </p:nvSpPr>
        <p:spPr>
          <a:xfrm>
            <a:off x="3694320" y="1417320"/>
            <a:ext cx="1773720" cy="383760"/>
          </a:xfrm>
          <a:prstGeom prst="rect">
            <a:avLst/>
          </a:prstGeom>
          <a:noFill/>
          <a:ln w="0">
            <a:noFill/>
          </a:ln>
        </p:spPr>
        <p:style>
          <a:lnRef idx="0"/>
          <a:fillRef idx="0"/>
          <a:effectRef idx="0"/>
          <a:fontRef idx="minor"/>
        </p:style>
      </p:sp>
      <p:sp>
        <p:nvSpPr>
          <p:cNvPr id="240" name="Text 8"/>
          <p:cNvSpPr/>
          <p:nvPr/>
        </p:nvSpPr>
        <p:spPr>
          <a:xfrm>
            <a:off x="5523120" y="1417320"/>
            <a:ext cx="95076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AirAlign</a:t>
            </a:r>
            <a:endParaRPr b="0" lang="en-IN" sz="900" spc="-1" strike="noStrike">
              <a:latin typeface="Arial"/>
            </a:endParaRPr>
          </a:p>
        </p:txBody>
      </p:sp>
      <p:sp>
        <p:nvSpPr>
          <p:cNvPr id="241" name="Text 9"/>
          <p:cNvSpPr/>
          <p:nvPr/>
        </p:nvSpPr>
        <p:spPr>
          <a:xfrm>
            <a:off x="6528960" y="1417320"/>
            <a:ext cx="95076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FlightOps</a:t>
            </a:r>
            <a:endParaRPr b="0" lang="en-IN" sz="900" spc="-1" strike="noStrike">
              <a:latin typeface="Arial"/>
            </a:endParaRPr>
          </a:p>
        </p:txBody>
      </p:sp>
      <p:sp>
        <p:nvSpPr>
          <p:cNvPr id="242" name="Text 10"/>
          <p:cNvSpPr/>
          <p:nvPr/>
        </p:nvSpPr>
        <p:spPr>
          <a:xfrm>
            <a:off x="7534800" y="1417320"/>
            <a:ext cx="1087920" cy="38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ffffff"/>
                </a:solidFill>
                <a:latin typeface="Calibri"/>
                <a:ea typeface="Calibri"/>
              </a:rPr>
              <a:t>AeroLedger</a:t>
            </a:r>
            <a:endParaRPr b="0" lang="en-IN" sz="900" spc="-1" strike="noStrike">
              <a:latin typeface="Arial"/>
            </a:endParaRPr>
          </a:p>
        </p:txBody>
      </p:sp>
      <p:sp>
        <p:nvSpPr>
          <p:cNvPr id="243" name="Shape 11"/>
          <p:cNvSpPr/>
          <p:nvPr/>
        </p:nvSpPr>
        <p:spPr>
          <a:xfrm>
            <a:off x="3657600" y="1801440"/>
            <a:ext cx="5028840" cy="804240"/>
          </a:xfrm>
          <a:prstGeom prst="rect">
            <a:avLst/>
          </a:prstGeom>
          <a:solidFill>
            <a:srgbClr val="0a2a20"/>
          </a:solidFill>
          <a:ln w="6350">
            <a:solidFill>
              <a:srgbClr val="1a4040"/>
            </a:solidFill>
            <a:round/>
          </a:ln>
        </p:spPr>
        <p:style>
          <a:lnRef idx="0"/>
          <a:fillRef idx="0"/>
          <a:effectRef idx="0"/>
          <a:fontRef idx="minor"/>
        </p:style>
      </p:sp>
      <p:sp>
        <p:nvSpPr>
          <p:cNvPr id="244" name="Text 12"/>
          <p:cNvSpPr/>
          <p:nvPr/>
        </p:nvSpPr>
        <p:spPr>
          <a:xfrm>
            <a:off x="3694320" y="1801440"/>
            <a:ext cx="1773720" cy="804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aaaaaa"/>
                </a:solidFill>
                <a:latin typeface="Calibri"/>
                <a:ea typeface="Calibri"/>
              </a:rPr>
              <a:t>What it solves</a:t>
            </a:r>
            <a:endParaRPr b="0" lang="en-IN" sz="1000" spc="-1" strike="noStrike">
              <a:latin typeface="Arial"/>
            </a:endParaRPr>
          </a:p>
        </p:txBody>
      </p:sp>
      <p:sp>
        <p:nvSpPr>
          <p:cNvPr id="245" name="Text 13"/>
          <p:cNvSpPr/>
          <p:nvPr/>
        </p:nvSpPr>
        <p:spPr>
          <a:xfrm>
            <a:off x="5523120" y="1801440"/>
            <a:ext cx="95076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64748b"/>
                </a:solidFill>
                <a:latin typeface="Calibri"/>
                <a:ea typeface="Calibri"/>
              </a:rPr>
              <a:t>Compliance</a:t>
            </a:r>
            <a:endParaRPr b="0" lang="en-IN" sz="1000" spc="-1" strike="noStrike">
              <a:latin typeface="Arial"/>
            </a:endParaRPr>
          </a:p>
        </p:txBody>
      </p:sp>
      <p:sp>
        <p:nvSpPr>
          <p:cNvPr id="246" name="Text 14"/>
          <p:cNvSpPr/>
          <p:nvPr/>
        </p:nvSpPr>
        <p:spPr>
          <a:xfrm>
            <a:off x="6528960" y="1801440"/>
            <a:ext cx="95076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64748b"/>
                </a:solidFill>
                <a:latin typeface="Calibri"/>
                <a:ea typeface="Calibri"/>
              </a:rPr>
              <a:t>Delays</a:t>
            </a:r>
            <a:endParaRPr b="0" lang="en-IN" sz="1000" spc="-1" strike="noStrike">
              <a:latin typeface="Arial"/>
            </a:endParaRPr>
          </a:p>
        </p:txBody>
      </p:sp>
      <p:sp>
        <p:nvSpPr>
          <p:cNvPr id="247" name="Text 15"/>
          <p:cNvSpPr/>
          <p:nvPr/>
        </p:nvSpPr>
        <p:spPr>
          <a:xfrm>
            <a:off x="7534800" y="1801440"/>
            <a:ext cx="108792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02c39a"/>
                </a:solidFill>
                <a:latin typeface="Calibri"/>
                <a:ea typeface="Calibri"/>
              </a:rPr>
              <a:t>💰 </a:t>
            </a:r>
            <a:r>
              <a:rPr b="1" lang="en-US" sz="1000" spc="-1" strike="noStrike">
                <a:solidFill>
                  <a:srgbClr val="02c39a"/>
                </a:solidFill>
                <a:latin typeface="Calibri"/>
                <a:ea typeface="Calibri"/>
              </a:rPr>
              <a:t>Revenue</a:t>
            </a:r>
            <a:endParaRPr b="0" lang="en-IN" sz="1000" spc="-1" strike="noStrike">
              <a:latin typeface="Arial"/>
            </a:endParaRPr>
          </a:p>
        </p:txBody>
      </p:sp>
      <p:sp>
        <p:nvSpPr>
          <p:cNvPr id="248" name="Shape 16"/>
          <p:cNvSpPr/>
          <p:nvPr/>
        </p:nvSpPr>
        <p:spPr>
          <a:xfrm>
            <a:off x="3657600" y="2606040"/>
            <a:ext cx="5028840" cy="804240"/>
          </a:xfrm>
          <a:prstGeom prst="rect">
            <a:avLst/>
          </a:prstGeom>
          <a:solidFill>
            <a:srgbClr val="081818"/>
          </a:solidFill>
          <a:ln w="6350">
            <a:solidFill>
              <a:srgbClr val="1a4040"/>
            </a:solidFill>
            <a:round/>
          </a:ln>
        </p:spPr>
        <p:style>
          <a:lnRef idx="0"/>
          <a:fillRef idx="0"/>
          <a:effectRef idx="0"/>
          <a:fontRef idx="minor"/>
        </p:style>
      </p:sp>
      <p:sp>
        <p:nvSpPr>
          <p:cNvPr id="249" name="Text 17"/>
          <p:cNvSpPr/>
          <p:nvPr/>
        </p:nvSpPr>
        <p:spPr>
          <a:xfrm>
            <a:off x="3694320" y="2606040"/>
            <a:ext cx="1773720" cy="804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aaaaaa"/>
                </a:solidFill>
                <a:latin typeface="Calibri"/>
                <a:ea typeface="Calibri"/>
              </a:rPr>
              <a:t>Budget approver</a:t>
            </a:r>
            <a:endParaRPr b="0" lang="en-IN" sz="1000" spc="-1" strike="noStrike">
              <a:latin typeface="Arial"/>
            </a:endParaRPr>
          </a:p>
        </p:txBody>
      </p:sp>
      <p:sp>
        <p:nvSpPr>
          <p:cNvPr id="250" name="Text 18"/>
          <p:cNvSpPr/>
          <p:nvPr/>
        </p:nvSpPr>
        <p:spPr>
          <a:xfrm>
            <a:off x="5523120" y="2606040"/>
            <a:ext cx="95076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64748b"/>
                </a:solidFill>
                <a:latin typeface="Calibri"/>
                <a:ea typeface="Calibri"/>
              </a:rPr>
              <a:t>Ops Mgr</a:t>
            </a:r>
            <a:endParaRPr b="0" lang="en-IN" sz="1000" spc="-1" strike="noStrike">
              <a:latin typeface="Arial"/>
            </a:endParaRPr>
          </a:p>
        </p:txBody>
      </p:sp>
      <p:sp>
        <p:nvSpPr>
          <p:cNvPr id="251" name="Text 19"/>
          <p:cNvSpPr/>
          <p:nvPr/>
        </p:nvSpPr>
        <p:spPr>
          <a:xfrm>
            <a:off x="6528960" y="2606040"/>
            <a:ext cx="95076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64748b"/>
                </a:solidFill>
                <a:latin typeface="Calibri"/>
                <a:ea typeface="Calibri"/>
              </a:rPr>
              <a:t>Ops Dir</a:t>
            </a:r>
            <a:endParaRPr b="0" lang="en-IN" sz="1000" spc="-1" strike="noStrike">
              <a:latin typeface="Arial"/>
            </a:endParaRPr>
          </a:p>
        </p:txBody>
      </p:sp>
      <p:sp>
        <p:nvSpPr>
          <p:cNvPr id="252" name="Text 20"/>
          <p:cNvSpPr/>
          <p:nvPr/>
        </p:nvSpPr>
        <p:spPr>
          <a:xfrm>
            <a:off x="7534800" y="2606040"/>
            <a:ext cx="108792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02c39a"/>
                </a:solidFill>
                <a:latin typeface="Calibri"/>
                <a:ea typeface="Calibri"/>
              </a:rPr>
              <a:t>CFO + CEO</a:t>
            </a:r>
            <a:endParaRPr b="0" lang="en-IN" sz="1000" spc="-1" strike="noStrike">
              <a:latin typeface="Arial"/>
            </a:endParaRPr>
          </a:p>
        </p:txBody>
      </p:sp>
      <p:sp>
        <p:nvSpPr>
          <p:cNvPr id="253" name="Shape 21"/>
          <p:cNvSpPr/>
          <p:nvPr/>
        </p:nvSpPr>
        <p:spPr>
          <a:xfrm>
            <a:off x="3657600" y="3410640"/>
            <a:ext cx="5028840" cy="804240"/>
          </a:xfrm>
          <a:prstGeom prst="rect">
            <a:avLst/>
          </a:prstGeom>
          <a:solidFill>
            <a:srgbClr val="0a2a20"/>
          </a:solidFill>
          <a:ln w="6350">
            <a:solidFill>
              <a:srgbClr val="1a4040"/>
            </a:solidFill>
            <a:round/>
          </a:ln>
        </p:spPr>
        <p:style>
          <a:lnRef idx="0"/>
          <a:fillRef idx="0"/>
          <a:effectRef idx="0"/>
          <a:fontRef idx="minor"/>
        </p:style>
      </p:sp>
      <p:sp>
        <p:nvSpPr>
          <p:cNvPr id="254" name="Text 22"/>
          <p:cNvSpPr/>
          <p:nvPr/>
        </p:nvSpPr>
        <p:spPr>
          <a:xfrm>
            <a:off x="3694320" y="3410640"/>
            <a:ext cx="1773720" cy="804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aaaaaa"/>
                </a:solidFill>
                <a:latin typeface="Calibri"/>
                <a:ea typeface="Calibri"/>
              </a:rPr>
              <a:t>Outcome</a:t>
            </a:r>
            <a:endParaRPr b="0" lang="en-IN" sz="1000" spc="-1" strike="noStrike">
              <a:latin typeface="Arial"/>
            </a:endParaRPr>
          </a:p>
        </p:txBody>
      </p:sp>
      <p:sp>
        <p:nvSpPr>
          <p:cNvPr id="255" name="Text 23"/>
          <p:cNvSpPr/>
          <p:nvPr/>
        </p:nvSpPr>
        <p:spPr>
          <a:xfrm>
            <a:off x="5523120" y="3410640"/>
            <a:ext cx="95076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64748b"/>
                </a:solidFill>
                <a:latin typeface="Calibri"/>
                <a:ea typeface="Calibri"/>
              </a:rPr>
              <a:t>Safety %</a:t>
            </a:r>
            <a:endParaRPr b="0" lang="en-IN" sz="1000" spc="-1" strike="noStrike">
              <a:latin typeface="Arial"/>
            </a:endParaRPr>
          </a:p>
        </p:txBody>
      </p:sp>
      <p:sp>
        <p:nvSpPr>
          <p:cNvPr id="256" name="Text 24"/>
          <p:cNvSpPr/>
          <p:nvPr/>
        </p:nvSpPr>
        <p:spPr>
          <a:xfrm>
            <a:off x="6528960" y="3410640"/>
            <a:ext cx="95076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64748b"/>
                </a:solidFill>
                <a:latin typeface="Calibri"/>
                <a:ea typeface="Calibri"/>
              </a:rPr>
              <a:t>Time saved</a:t>
            </a:r>
            <a:endParaRPr b="0" lang="en-IN" sz="1000" spc="-1" strike="noStrike">
              <a:latin typeface="Arial"/>
            </a:endParaRPr>
          </a:p>
        </p:txBody>
      </p:sp>
      <p:sp>
        <p:nvSpPr>
          <p:cNvPr id="257" name="Text 25"/>
          <p:cNvSpPr/>
          <p:nvPr/>
        </p:nvSpPr>
        <p:spPr>
          <a:xfrm>
            <a:off x="7534800" y="3410640"/>
            <a:ext cx="1087920" cy="8042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000" spc="-1" strike="noStrike">
                <a:solidFill>
                  <a:srgbClr val="02c39a"/>
                </a:solidFill>
                <a:latin typeface="Calibri"/>
                <a:ea typeface="Calibri"/>
              </a:rPr>
              <a:t>$ Recovered</a:t>
            </a:r>
            <a:endParaRPr b="0" lang="en-IN" sz="1000" spc="-1" strike="noStrike">
              <a:latin typeface="Arial"/>
            </a:endParaRPr>
          </a:p>
        </p:txBody>
      </p:sp>
      <p:sp>
        <p:nvSpPr>
          <p:cNvPr id="258" name="Shape 26"/>
          <p:cNvSpPr/>
          <p:nvPr/>
        </p:nvSpPr>
        <p:spPr>
          <a:xfrm>
            <a:off x="7498080" y="1417320"/>
            <a:ext cx="1142640" cy="3200040"/>
          </a:xfrm>
          <a:prstGeom prst="rect">
            <a:avLst/>
          </a:prstGeom>
          <a:solidFill>
            <a:srgbClr val="02c39a">
              <a:alpha val="12000"/>
            </a:srgbClr>
          </a:solidFill>
          <a:ln w="12700">
            <a:solidFill>
              <a:srgbClr val="02c39a"/>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2b2e"/>
        </a:solidFill>
      </p:bgPr>
    </p:bg>
    <p:spTree>
      <p:nvGrpSpPr>
        <p:cNvPr id="1" name=""/>
        <p:cNvGrpSpPr/>
        <p:nvPr/>
      </p:nvGrpSpPr>
      <p:grpSpPr>
        <a:xfrm>
          <a:off x="0" y="0"/>
          <a:ext cx="0" cy="0"/>
          <a:chOff x="0" y="0"/>
          <a:chExt cx="0" cy="0"/>
        </a:xfrm>
      </p:grpSpPr>
      <p:sp>
        <p:nvSpPr>
          <p:cNvPr id="259" name="Shape 0"/>
          <p:cNvSpPr/>
          <p:nvPr/>
        </p:nvSpPr>
        <p:spPr>
          <a:xfrm>
            <a:off x="5943600" y="-731520"/>
            <a:ext cx="4571640" cy="4571640"/>
          </a:xfrm>
          <a:prstGeom prst="ellipse">
            <a:avLst/>
          </a:prstGeom>
          <a:solidFill>
            <a:srgbClr val="028090">
              <a:alpha val="22000"/>
            </a:srgbClr>
          </a:solidFill>
          <a:ln w="12700">
            <a:solidFill>
              <a:srgbClr val="028090">
                <a:alpha val="22000"/>
              </a:srgbClr>
            </a:solidFill>
            <a:round/>
          </a:ln>
        </p:spPr>
        <p:style>
          <a:lnRef idx="0"/>
          <a:fillRef idx="0"/>
          <a:effectRef idx="0"/>
          <a:fontRef idx="minor"/>
        </p:style>
      </p:sp>
      <p:sp>
        <p:nvSpPr>
          <p:cNvPr id="260" name="Shape 1"/>
          <p:cNvSpPr/>
          <p:nvPr/>
        </p:nvSpPr>
        <p:spPr>
          <a:xfrm>
            <a:off x="-914400" y="3200400"/>
            <a:ext cx="3200040" cy="3200040"/>
          </a:xfrm>
          <a:prstGeom prst="ellipse">
            <a:avLst/>
          </a:prstGeom>
          <a:solidFill>
            <a:srgbClr val="f4a261">
              <a:alpha val="18000"/>
            </a:srgbClr>
          </a:solidFill>
          <a:ln w="12700">
            <a:solidFill>
              <a:srgbClr val="f4a261">
                <a:alpha val="18000"/>
              </a:srgbClr>
            </a:solidFill>
            <a:round/>
          </a:ln>
        </p:spPr>
        <p:style>
          <a:lnRef idx="0"/>
          <a:fillRef idx="0"/>
          <a:effectRef idx="0"/>
          <a:fontRef idx="minor"/>
        </p:style>
      </p:sp>
      <p:sp>
        <p:nvSpPr>
          <p:cNvPr id="261" name="Text 2"/>
          <p:cNvSpPr/>
          <p:nvPr/>
        </p:nvSpPr>
        <p:spPr>
          <a:xfrm>
            <a:off x="548640" y="365760"/>
            <a:ext cx="548604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2c39a"/>
                </a:solidFill>
                <a:latin typeface="Calibri"/>
                <a:ea typeface="Calibri"/>
              </a:rPr>
              <a:t>SUMMARY</a:t>
            </a:r>
            <a:endParaRPr b="0" lang="en-IN" sz="1000" spc="-1" strike="noStrike">
              <a:latin typeface="Arial"/>
            </a:endParaRPr>
          </a:p>
        </p:txBody>
      </p:sp>
      <p:sp>
        <p:nvSpPr>
          <p:cNvPr id="262" name="Text 3"/>
          <p:cNvSpPr/>
          <p:nvPr/>
        </p:nvSpPr>
        <p:spPr>
          <a:xfrm>
            <a:off x="548640" y="685800"/>
            <a:ext cx="6400440" cy="914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5200" spc="-1" strike="noStrike">
                <a:solidFill>
                  <a:srgbClr val="ffffff"/>
                </a:solidFill>
                <a:latin typeface="Cambria"/>
                <a:ea typeface="Cambria"/>
              </a:rPr>
              <a:t>AeroLedger</a:t>
            </a:r>
            <a:endParaRPr b="0" lang="en-IN" sz="5200" spc="-1" strike="noStrike">
              <a:latin typeface="Arial"/>
            </a:endParaRPr>
          </a:p>
        </p:txBody>
      </p:sp>
      <p:sp>
        <p:nvSpPr>
          <p:cNvPr id="263" name="Text 4"/>
          <p:cNvSpPr/>
          <p:nvPr/>
        </p:nvSpPr>
        <p:spPr>
          <a:xfrm>
            <a:off x="548640" y="1645920"/>
            <a:ext cx="640044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2000" spc="-1" strike="noStrike">
                <a:solidFill>
                  <a:srgbClr val="02c39a"/>
                </a:solidFill>
                <a:latin typeface="Calibri"/>
                <a:ea typeface="Calibri"/>
              </a:rPr>
              <a:t>Contract-to-Cash. Fully Automated.</a:t>
            </a:r>
            <a:endParaRPr b="0" lang="en-IN" sz="2000" spc="-1" strike="noStrike">
              <a:latin typeface="Arial"/>
            </a:endParaRPr>
          </a:p>
        </p:txBody>
      </p:sp>
      <p:sp>
        <p:nvSpPr>
          <p:cNvPr id="264" name="Shape 5"/>
          <p:cNvSpPr/>
          <p:nvPr/>
        </p:nvSpPr>
        <p:spPr>
          <a:xfrm>
            <a:off x="457200" y="2395800"/>
            <a:ext cx="658080" cy="658080"/>
          </a:xfrm>
          <a:prstGeom prst="ellipse">
            <a:avLst/>
          </a:prstGeom>
          <a:solidFill>
            <a:srgbClr val="028090"/>
          </a:solidFill>
          <a:ln w="12700">
            <a:solidFill>
              <a:srgbClr val="028090"/>
            </a:solidFill>
            <a:round/>
          </a:ln>
        </p:spPr>
        <p:style>
          <a:lnRef idx="0"/>
          <a:fillRef idx="0"/>
          <a:effectRef idx="0"/>
          <a:fontRef idx="minor"/>
        </p:style>
      </p:sp>
      <p:pic>
        <p:nvPicPr>
          <p:cNvPr id="265" name="Image 0" descr="preencoded.png"/>
          <p:cNvPicPr/>
          <p:nvPr/>
        </p:nvPicPr>
        <p:blipFill>
          <a:blip r:embed="rId1"/>
          <a:stretch/>
        </p:blipFill>
        <p:spPr>
          <a:xfrm>
            <a:off x="576000" y="2514600"/>
            <a:ext cx="420120" cy="420120"/>
          </a:xfrm>
          <a:prstGeom prst="rect">
            <a:avLst/>
          </a:prstGeom>
          <a:ln w="0">
            <a:noFill/>
          </a:ln>
        </p:spPr>
      </p:pic>
      <p:sp>
        <p:nvSpPr>
          <p:cNvPr id="266" name="Text 6"/>
          <p:cNvSpPr/>
          <p:nvPr/>
        </p:nvSpPr>
        <p:spPr>
          <a:xfrm>
            <a:off x="320040" y="3127320"/>
            <a:ext cx="914040" cy="594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50" spc="-1" strike="noStrike">
                <a:solidFill>
                  <a:srgbClr val="aaaaaa"/>
                </a:solidFill>
                <a:latin typeface="Calibri"/>
                <a:ea typeface="Calibri"/>
              </a:rPr>
              <a:t>AI Contract</a:t>
            </a:r>
            <a:endParaRPr b="0" lang="en-IN" sz="1050" spc="-1" strike="noStrike">
              <a:latin typeface="Arial"/>
            </a:endParaRPr>
          </a:p>
          <a:p>
            <a:pPr algn="ctr">
              <a:lnSpc>
                <a:spcPct val="100000"/>
              </a:lnSpc>
              <a:buNone/>
              <a:tabLst>
                <a:tab algn="l" pos="0"/>
              </a:tabLst>
            </a:pPr>
            <a:r>
              <a:rPr b="0" lang="en-US" sz="1050" spc="-1" strike="noStrike">
                <a:solidFill>
                  <a:srgbClr val="aaaaaa"/>
                </a:solidFill>
                <a:latin typeface="Calibri"/>
                <a:ea typeface="Calibri"/>
              </a:rPr>
              <a:t>Reading</a:t>
            </a:r>
            <a:endParaRPr b="0" lang="en-IN" sz="1050" spc="-1" strike="noStrike">
              <a:latin typeface="Arial"/>
            </a:endParaRPr>
          </a:p>
        </p:txBody>
      </p:sp>
      <p:sp>
        <p:nvSpPr>
          <p:cNvPr id="267" name="Shape 7"/>
          <p:cNvSpPr/>
          <p:nvPr/>
        </p:nvSpPr>
        <p:spPr>
          <a:xfrm>
            <a:off x="2541960" y="2395800"/>
            <a:ext cx="658080" cy="658080"/>
          </a:xfrm>
          <a:prstGeom prst="ellipse">
            <a:avLst/>
          </a:prstGeom>
          <a:solidFill>
            <a:srgbClr val="028090"/>
          </a:solidFill>
          <a:ln w="12700">
            <a:solidFill>
              <a:srgbClr val="028090"/>
            </a:solidFill>
            <a:round/>
          </a:ln>
        </p:spPr>
        <p:style>
          <a:lnRef idx="0"/>
          <a:fillRef idx="0"/>
          <a:effectRef idx="0"/>
          <a:fontRef idx="minor"/>
        </p:style>
      </p:sp>
      <p:pic>
        <p:nvPicPr>
          <p:cNvPr id="268" name="Image 1" descr="preencoded.png"/>
          <p:cNvPicPr/>
          <p:nvPr/>
        </p:nvPicPr>
        <p:blipFill>
          <a:blip r:embed="rId2"/>
          <a:stretch/>
        </p:blipFill>
        <p:spPr>
          <a:xfrm>
            <a:off x="2660760" y="2514600"/>
            <a:ext cx="420120" cy="420120"/>
          </a:xfrm>
          <a:prstGeom prst="rect">
            <a:avLst/>
          </a:prstGeom>
          <a:ln w="0">
            <a:noFill/>
          </a:ln>
        </p:spPr>
      </p:pic>
      <p:sp>
        <p:nvSpPr>
          <p:cNvPr id="269" name="Text 8"/>
          <p:cNvSpPr/>
          <p:nvPr/>
        </p:nvSpPr>
        <p:spPr>
          <a:xfrm>
            <a:off x="2404800" y="3127320"/>
            <a:ext cx="914040" cy="594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50" spc="-1" strike="noStrike">
                <a:solidFill>
                  <a:srgbClr val="aaaaaa"/>
                </a:solidFill>
                <a:latin typeface="Calibri"/>
                <a:ea typeface="Calibri"/>
              </a:rPr>
              <a:t>Breach</a:t>
            </a:r>
            <a:endParaRPr b="0" lang="en-IN" sz="1050" spc="-1" strike="noStrike">
              <a:latin typeface="Arial"/>
            </a:endParaRPr>
          </a:p>
          <a:p>
            <a:pPr algn="ctr">
              <a:lnSpc>
                <a:spcPct val="100000"/>
              </a:lnSpc>
              <a:buNone/>
              <a:tabLst>
                <a:tab algn="l" pos="0"/>
              </a:tabLst>
            </a:pPr>
            <a:r>
              <a:rPr b="0" lang="en-US" sz="1050" spc="-1" strike="noStrike">
                <a:solidFill>
                  <a:srgbClr val="aaaaaa"/>
                </a:solidFill>
                <a:latin typeface="Calibri"/>
                <a:ea typeface="Calibri"/>
              </a:rPr>
              <a:t>Detection</a:t>
            </a:r>
            <a:endParaRPr b="0" lang="en-IN" sz="1050" spc="-1" strike="noStrike">
              <a:latin typeface="Arial"/>
            </a:endParaRPr>
          </a:p>
        </p:txBody>
      </p:sp>
      <p:sp>
        <p:nvSpPr>
          <p:cNvPr id="270" name="Shape 9"/>
          <p:cNvSpPr/>
          <p:nvPr/>
        </p:nvSpPr>
        <p:spPr>
          <a:xfrm>
            <a:off x="4626720" y="2395800"/>
            <a:ext cx="658080" cy="658080"/>
          </a:xfrm>
          <a:prstGeom prst="ellipse">
            <a:avLst/>
          </a:prstGeom>
          <a:solidFill>
            <a:srgbClr val="e76f51"/>
          </a:solidFill>
          <a:ln w="12700">
            <a:solidFill>
              <a:srgbClr val="e76f51"/>
            </a:solidFill>
            <a:round/>
          </a:ln>
        </p:spPr>
        <p:style>
          <a:lnRef idx="0"/>
          <a:fillRef idx="0"/>
          <a:effectRef idx="0"/>
          <a:fontRef idx="minor"/>
        </p:style>
      </p:sp>
      <p:pic>
        <p:nvPicPr>
          <p:cNvPr id="271" name="Image 2" descr="preencoded.png"/>
          <p:cNvPicPr/>
          <p:nvPr/>
        </p:nvPicPr>
        <p:blipFill>
          <a:blip r:embed="rId3"/>
          <a:stretch/>
        </p:blipFill>
        <p:spPr>
          <a:xfrm>
            <a:off x="4745880" y="2514600"/>
            <a:ext cx="420120" cy="420120"/>
          </a:xfrm>
          <a:prstGeom prst="rect">
            <a:avLst/>
          </a:prstGeom>
          <a:ln w="0">
            <a:noFill/>
          </a:ln>
        </p:spPr>
      </p:pic>
      <p:sp>
        <p:nvSpPr>
          <p:cNvPr id="272" name="Text 10"/>
          <p:cNvSpPr/>
          <p:nvPr/>
        </p:nvSpPr>
        <p:spPr>
          <a:xfrm>
            <a:off x="4489560" y="3127320"/>
            <a:ext cx="914040" cy="594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50" spc="-1" strike="noStrike">
                <a:solidFill>
                  <a:srgbClr val="aaaaaa"/>
                </a:solidFill>
                <a:latin typeface="Calibri"/>
                <a:ea typeface="Calibri"/>
              </a:rPr>
              <a:t>Penalty</a:t>
            </a:r>
            <a:endParaRPr b="0" lang="en-IN" sz="1050" spc="-1" strike="noStrike">
              <a:latin typeface="Arial"/>
            </a:endParaRPr>
          </a:p>
          <a:p>
            <a:pPr algn="ctr">
              <a:lnSpc>
                <a:spcPct val="100000"/>
              </a:lnSpc>
              <a:buNone/>
              <a:tabLst>
                <a:tab algn="l" pos="0"/>
              </a:tabLst>
            </a:pPr>
            <a:r>
              <a:rPr b="0" lang="en-US" sz="1050" spc="-1" strike="noStrike">
                <a:solidFill>
                  <a:srgbClr val="aaaaaa"/>
                </a:solidFill>
                <a:latin typeface="Calibri"/>
                <a:ea typeface="Calibri"/>
              </a:rPr>
              <a:t>Calculation</a:t>
            </a:r>
            <a:endParaRPr b="0" lang="en-IN" sz="1050" spc="-1" strike="noStrike">
              <a:latin typeface="Arial"/>
            </a:endParaRPr>
          </a:p>
        </p:txBody>
      </p:sp>
      <p:sp>
        <p:nvSpPr>
          <p:cNvPr id="273" name="Shape 11"/>
          <p:cNvSpPr/>
          <p:nvPr/>
        </p:nvSpPr>
        <p:spPr>
          <a:xfrm>
            <a:off x="6711840" y="2395800"/>
            <a:ext cx="658080" cy="658080"/>
          </a:xfrm>
          <a:prstGeom prst="ellipse">
            <a:avLst/>
          </a:prstGeom>
          <a:solidFill>
            <a:srgbClr val="e76f51"/>
          </a:solidFill>
          <a:ln w="12700">
            <a:solidFill>
              <a:srgbClr val="e76f51"/>
            </a:solidFill>
            <a:round/>
          </a:ln>
        </p:spPr>
        <p:style>
          <a:lnRef idx="0"/>
          <a:fillRef idx="0"/>
          <a:effectRef idx="0"/>
          <a:fontRef idx="minor"/>
        </p:style>
      </p:sp>
      <p:pic>
        <p:nvPicPr>
          <p:cNvPr id="274" name="Image 3" descr="preencoded.png"/>
          <p:cNvPicPr/>
          <p:nvPr/>
        </p:nvPicPr>
        <p:blipFill>
          <a:blip r:embed="rId4"/>
          <a:stretch/>
        </p:blipFill>
        <p:spPr>
          <a:xfrm>
            <a:off x="6830640" y="2514600"/>
            <a:ext cx="420120" cy="420120"/>
          </a:xfrm>
          <a:prstGeom prst="rect">
            <a:avLst/>
          </a:prstGeom>
          <a:ln w="0">
            <a:noFill/>
          </a:ln>
        </p:spPr>
      </p:pic>
      <p:sp>
        <p:nvSpPr>
          <p:cNvPr id="275" name="Text 12"/>
          <p:cNvSpPr/>
          <p:nvPr/>
        </p:nvSpPr>
        <p:spPr>
          <a:xfrm>
            <a:off x="6574680" y="3127320"/>
            <a:ext cx="914040" cy="594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50" spc="-1" strike="noStrike">
                <a:solidFill>
                  <a:srgbClr val="aaaaaa"/>
                </a:solidFill>
                <a:latin typeface="Calibri"/>
                <a:ea typeface="Calibri"/>
              </a:rPr>
              <a:t>Renewal</a:t>
            </a:r>
            <a:endParaRPr b="0" lang="en-IN" sz="1050" spc="-1" strike="noStrike">
              <a:latin typeface="Arial"/>
            </a:endParaRPr>
          </a:p>
          <a:p>
            <a:pPr algn="ctr">
              <a:lnSpc>
                <a:spcPct val="100000"/>
              </a:lnSpc>
              <a:buNone/>
              <a:tabLst>
                <a:tab algn="l" pos="0"/>
              </a:tabLst>
            </a:pPr>
            <a:r>
              <a:rPr b="0" lang="en-US" sz="1050" spc="-1" strike="noStrike">
                <a:solidFill>
                  <a:srgbClr val="aaaaaa"/>
                </a:solidFill>
                <a:latin typeface="Calibri"/>
                <a:ea typeface="Calibri"/>
              </a:rPr>
              <a:t>Intelligence</a:t>
            </a:r>
            <a:endParaRPr b="0" lang="en-IN" sz="1050" spc="-1" strike="noStrike">
              <a:latin typeface="Arial"/>
            </a:endParaRPr>
          </a:p>
        </p:txBody>
      </p:sp>
      <p:sp>
        <p:nvSpPr>
          <p:cNvPr id="276" name="Shape 13"/>
          <p:cNvSpPr/>
          <p:nvPr/>
        </p:nvSpPr>
        <p:spPr>
          <a:xfrm>
            <a:off x="457200" y="3913560"/>
            <a:ext cx="8229240" cy="895680"/>
          </a:xfrm>
          <a:prstGeom prst="roundRect">
            <a:avLst>
              <a:gd name="adj" fmla="val 7143"/>
            </a:avLst>
          </a:prstGeom>
          <a:solidFill>
            <a:srgbClr val="028090"/>
          </a:solidFill>
          <a:ln w="12700">
            <a:solidFill>
              <a:srgbClr val="028090"/>
            </a:solidFill>
            <a:round/>
          </a:ln>
        </p:spPr>
        <p:style>
          <a:lnRef idx="0"/>
          <a:fillRef idx="0"/>
          <a:effectRef idx="0"/>
          <a:fontRef idx="minor"/>
        </p:style>
      </p:sp>
      <p:sp>
        <p:nvSpPr>
          <p:cNvPr id="277" name="Text 14"/>
          <p:cNvSpPr/>
          <p:nvPr/>
        </p:nvSpPr>
        <p:spPr>
          <a:xfrm>
            <a:off x="594360" y="3913560"/>
            <a:ext cx="7954920" cy="895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600" spc="-1" strike="noStrike">
                <a:solidFill>
                  <a:srgbClr val="ffffff"/>
                </a:solidFill>
                <a:latin typeface="Cambria"/>
                <a:ea typeface="Cambria"/>
              </a:rPr>
              <a:t>Airports lose real money every month. AeroLedger stops that — automatically.</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LibreOffice/7.3.7.2$Linux_X86_64 LibreOffice_project/30$Build-2</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2026-06-15T05:06:59Z</dcterms:created>
  <dc:creator>AeroLedger</dc:creator>
  <dc:description/>
  <dc:language>en-IN</dc:language>
  <cp:lastModifiedBy/>
  <dcterms:modified xsi:type="dcterms:W3CDTF">2026-06-15T11:22:34Z</dcterms:modified>
  <cp:revision>3</cp:revision>
  <dc:subject>PptxGenJS Presentation</dc:subject>
  <dc:title>AeroLedger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